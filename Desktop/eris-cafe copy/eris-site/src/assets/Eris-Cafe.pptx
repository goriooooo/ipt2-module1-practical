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alibri" panose="020F0502020204030204" pitchFamily="34" charset="0"/>
      <p:regular r:id="rId11"/>
      <p:bold r:id="rId12"/>
      <p:italic r:id="rId13"/>
      <p:boldItalic r:id="rId14"/>
    </p:embeddedFont>
    <p:embeddedFont>
      <p:font typeface="Poppins" panose="00000500000000000000" pitchFamily="2" charset="0"/>
      <p:regular r:id="rId15"/>
    </p:embeddedFont>
    <p:embeddedFont>
      <p:font typeface="Poppins Bold" panose="00000800000000000000" charset="0"/>
      <p:regular r:id="rId16"/>
    </p:embeddedFont>
    <p:embeddedFont>
      <p:font typeface="Poppins Bold Italics" panose="020B0604020202020204" charset="0"/>
      <p:regular r:id="rId17"/>
    </p:embeddedFont>
    <p:embeddedFont>
      <p:font typeface="Segoe UI Historic" panose="020B0502040204020203" pitchFamily="3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0" i="0" dirty="0" err="1">
                <a:solidFill>
                  <a:srgbClr val="FFFFFF"/>
                </a:solidFill>
                <a:effectLst/>
                <a:latin typeface="Segoe UI Historic" panose="020B0502040204020203" pitchFamily="34" charset="0"/>
              </a:rPr>
              <a:t>mao</a:t>
            </a:r>
            <a:r>
              <a:rPr lang="en-US" b="0" i="0" dirty="0">
                <a:solidFill>
                  <a:srgbClr val="FFFFFF"/>
                </a:solidFill>
                <a:effectLst/>
                <a:latin typeface="Segoe UI Historic" panose="020B0502040204020203" pitchFamily="34" charset="0"/>
              </a:rPr>
              <a:t> </a:t>
            </a:r>
            <a:r>
              <a:rPr lang="en-US" b="0" i="0" dirty="0" err="1">
                <a:solidFill>
                  <a:srgbClr val="FFFFFF"/>
                </a:solidFill>
                <a:effectLst/>
                <a:latin typeface="Segoe UI Historic" panose="020B0502040204020203" pitchFamily="34" charset="0"/>
              </a:rPr>
              <a:t>ni</a:t>
            </a:r>
            <a:r>
              <a:rPr lang="en-US" b="0" i="0" dirty="0">
                <a:solidFill>
                  <a:srgbClr val="FFFFFF"/>
                </a:solidFill>
                <a:effectLst/>
                <a:latin typeface="Segoe UI Historic" panose="020B0502040204020203" pitchFamily="34" charset="0"/>
              </a:rPr>
              <a:t> </a:t>
            </a:r>
            <a:r>
              <a:rPr lang="en-US" b="0" i="0" dirty="0" err="1">
                <a:solidFill>
                  <a:srgbClr val="FFFFFF"/>
                </a:solidFill>
                <a:effectLst/>
                <a:latin typeface="Segoe UI Historic" panose="020B0502040204020203" pitchFamily="34" charset="0"/>
              </a:rPr>
              <a:t>akoa</a:t>
            </a:r>
            <a:r>
              <a:rPr lang="en-US" b="0" i="0" dirty="0">
                <a:solidFill>
                  <a:srgbClr val="FFFFFF"/>
                </a:solidFill>
                <a:effectLst/>
                <a:latin typeface="Segoe UI Historic" panose="020B0502040204020203" pitchFamily="34" charset="0"/>
              </a:rPr>
              <a:t> PRESENTATION SCRIPT — PROJECT OVERVIEW “Good day everyone. Our project is the ERIS Café Ordering and Reservation System. This system was developed to modernize the café’s operations by providing customers with an easier way to browse the menu, place their orders, and reserve seats online. Instead of relying on manual processes, the system centralizes all transactions into one platform, allowing customers to interact smoothly with the café and enabling administrators to manage orders and reservations efficiently. The system integrates several essential tools to ensure ease of use, security, and real-time availability, helping improve both customer experience and operational workflow.” PRESENTATION SCRIPT — PROJECT OBJECTIVES “The main objective of this project is to create a more convenient and efficient digital system for ERIS Café. First, we aim to offer customers a simple online interface where they can view menu items, place food orders, and reserve seats without waiting in line. Second, we want to streamline the administrative workflow so that menu updates, order tracking, and reservation approvals can all be managed through a single dashboard. Lastly, the system focuses on improving accuracy and reliability by ensuring that reservations and orders are recorded correctly and updated in real-time.”</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a:t>“Now that we’ve discussed the background of Eris Café and the goals of the system, let’s move on to how the system is actually built.”</a:t>
            </a:r>
            <a:endParaRPr lang="en-US" dirty="0"/>
          </a:p>
          <a:p>
            <a:r>
              <a:rPr lang="en-US" b="1" dirty="0"/>
              <a:t>“To support fast performance, easy access, and secure transactions, our system uses a modern web architecture composed of several key technologies.”</a:t>
            </a:r>
            <a:endParaRPr lang="en-US" dirty="0"/>
          </a:p>
          <a:p>
            <a:r>
              <a:rPr lang="en-US" b="1" dirty="0"/>
              <a:t>“The frontend is developed using React with </a:t>
            </a:r>
            <a:r>
              <a:rPr lang="en-US" b="1" dirty="0" err="1"/>
              <a:t>Vite</a:t>
            </a:r>
            <a:r>
              <a:rPr lang="en-US" b="1" dirty="0"/>
              <a:t>, which ensures a smooth and responsive user experience. On the backend, we use Node.js with Express, connected to MongoDB for handling and storing all data such as orders, reservations, and inventory.”</a:t>
            </a:r>
            <a:endParaRPr lang="en-US" dirty="0"/>
          </a:p>
          <a:p>
            <a:r>
              <a:rPr lang="en-US" b="1" dirty="0"/>
              <a:t>“For security, the system integrates Google Authentication for secure login and a CAPTCHA API to verify real users and block automated attacks.”</a:t>
            </a:r>
            <a:endParaRPr lang="en-US" dirty="0"/>
          </a:p>
          <a:p>
            <a:r>
              <a:rPr lang="en-US" b="1" dirty="0"/>
              <a:t>“Together, this architecture makes the system fast, scalable, and secure enough to handle the daily operations of Eris Café.”</a:t>
            </a:r>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a:t>“Additional APIs work together to support system functions: The SMTP API sends password reset emails, the Calendar API validates reservation dates and time availability, </a:t>
            </a:r>
            <a:r>
              <a:rPr lang="en-US" b="1" dirty="0" err="1"/>
              <a:t>Cloudinary</a:t>
            </a:r>
            <a:r>
              <a:rPr lang="en-US" b="1" dirty="0"/>
              <a:t> stores and optimizes all menu images, and Google Drive serves as a cloud backup for important system files and assets.”</a:t>
            </a:r>
            <a:endParaRPr lang="en-US" dirty="0"/>
          </a:p>
          <a:p>
            <a:r>
              <a:rPr lang="en-US" b="1" dirty="0"/>
              <a:t>“All of these components work together to create a fast, secure, and reliable system capable of supporting the daily operations of Eris Café.”</a:t>
            </a:r>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0" i="0" u="none" strike="noStrike" dirty="0">
                <a:solidFill>
                  <a:srgbClr val="FFFFFF"/>
                </a:solidFill>
                <a:effectLst/>
                <a:latin typeface="Segoe UI Historic" panose="020B0502040204020203" pitchFamily="34" charset="0"/>
              </a:rPr>
              <a:t>PRESENTATION SCRIPT — KEY FEATURES “The system includes several key features designed to support both customers and admins. For customers, the system allows easy menu browsing, food ordering, and seat reservation with real-time availability. For the admin, the system provides a dedicated dashboard where they can manage menu items, monitor order statuses, and handle reservation approvals. The platform also supports password recovery, displays images for menu items, and automatically logs all orders and reservations to maintain accurate records. Overall, these features work together to create a smooth and efficient digital experience for both users and café staff.”</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www.facebook.com/CafesaBukid/"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575" y="-9525"/>
            <a:ext cx="18323250" cy="8726850"/>
            <a:chOff x="0" y="0"/>
            <a:chExt cx="24431000" cy="11635800"/>
          </a:xfrm>
        </p:grpSpPr>
        <p:sp>
          <p:nvSpPr>
            <p:cNvPr id="3" name="Freeform 3"/>
            <p:cNvSpPr/>
            <p:nvPr/>
          </p:nvSpPr>
          <p:spPr>
            <a:xfrm>
              <a:off x="12700" y="12700"/>
              <a:ext cx="24405589" cy="11610340"/>
            </a:xfrm>
            <a:custGeom>
              <a:avLst/>
              <a:gdLst/>
              <a:ahLst/>
              <a:cxnLst/>
              <a:rect l="l" t="t" r="r" b="b"/>
              <a:pathLst>
                <a:path w="24405589" h="11610340">
                  <a:moveTo>
                    <a:pt x="0" y="0"/>
                  </a:moveTo>
                  <a:lnTo>
                    <a:pt x="24405589" y="0"/>
                  </a:lnTo>
                  <a:lnTo>
                    <a:pt x="24405589" y="11610340"/>
                  </a:lnTo>
                  <a:lnTo>
                    <a:pt x="0" y="11610340"/>
                  </a:lnTo>
                  <a:close/>
                </a:path>
              </a:pathLst>
            </a:custGeom>
            <a:solidFill>
              <a:srgbClr val="073474"/>
            </a:solidFill>
            <a:ln w="12700">
              <a:solidFill>
                <a:srgbClr val="000000"/>
              </a:solidFill>
            </a:ln>
          </p:spPr>
        </p:sp>
        <p:sp>
          <p:nvSpPr>
            <p:cNvPr id="4" name="Freeform 4"/>
            <p:cNvSpPr/>
            <p:nvPr/>
          </p:nvSpPr>
          <p:spPr>
            <a:xfrm>
              <a:off x="0" y="0"/>
              <a:ext cx="24430989" cy="11635740"/>
            </a:xfrm>
            <a:custGeom>
              <a:avLst/>
              <a:gdLst/>
              <a:ahLst/>
              <a:cxnLst/>
              <a:rect l="l" t="t" r="r" b="b"/>
              <a:pathLst>
                <a:path w="24430989" h="11635740">
                  <a:moveTo>
                    <a:pt x="12700" y="0"/>
                  </a:moveTo>
                  <a:lnTo>
                    <a:pt x="24418289" y="0"/>
                  </a:lnTo>
                  <a:cubicBezTo>
                    <a:pt x="24425275" y="0"/>
                    <a:pt x="24430989" y="5715"/>
                    <a:pt x="24430989" y="12700"/>
                  </a:cubicBezTo>
                  <a:lnTo>
                    <a:pt x="24430989" y="11623040"/>
                  </a:lnTo>
                  <a:cubicBezTo>
                    <a:pt x="24430989" y="11630025"/>
                    <a:pt x="24425275" y="11635740"/>
                    <a:pt x="24418289" y="11635740"/>
                  </a:cubicBezTo>
                  <a:lnTo>
                    <a:pt x="12700" y="11635740"/>
                  </a:lnTo>
                  <a:cubicBezTo>
                    <a:pt x="5715" y="11635740"/>
                    <a:pt x="0" y="11630025"/>
                    <a:pt x="0" y="11623040"/>
                  </a:cubicBezTo>
                  <a:lnTo>
                    <a:pt x="0" y="12700"/>
                  </a:lnTo>
                  <a:cubicBezTo>
                    <a:pt x="0" y="5715"/>
                    <a:pt x="5715" y="0"/>
                    <a:pt x="12700" y="0"/>
                  </a:cubicBezTo>
                  <a:moveTo>
                    <a:pt x="12700" y="25400"/>
                  </a:moveTo>
                  <a:lnTo>
                    <a:pt x="12700" y="12700"/>
                  </a:lnTo>
                  <a:lnTo>
                    <a:pt x="25400" y="12700"/>
                  </a:lnTo>
                  <a:lnTo>
                    <a:pt x="25400" y="11623040"/>
                  </a:lnTo>
                  <a:lnTo>
                    <a:pt x="12700" y="11623040"/>
                  </a:lnTo>
                  <a:lnTo>
                    <a:pt x="12700" y="11610340"/>
                  </a:lnTo>
                  <a:lnTo>
                    <a:pt x="24418289" y="11610340"/>
                  </a:lnTo>
                  <a:lnTo>
                    <a:pt x="24418289" y="11623040"/>
                  </a:lnTo>
                  <a:lnTo>
                    <a:pt x="24405589" y="11623040"/>
                  </a:lnTo>
                  <a:lnTo>
                    <a:pt x="24405589" y="12700"/>
                  </a:lnTo>
                  <a:lnTo>
                    <a:pt x="24418289" y="12700"/>
                  </a:lnTo>
                  <a:lnTo>
                    <a:pt x="24418289" y="25400"/>
                  </a:lnTo>
                  <a:lnTo>
                    <a:pt x="12700" y="25400"/>
                  </a:lnTo>
                  <a:close/>
                </a:path>
              </a:pathLst>
            </a:custGeom>
            <a:solidFill>
              <a:srgbClr val="595959"/>
            </a:solidFill>
            <a:ln w="12700">
              <a:solidFill>
                <a:srgbClr val="000000"/>
              </a:solidFill>
            </a:ln>
          </p:spPr>
        </p:sp>
      </p:grpSp>
      <p:grpSp>
        <p:nvGrpSpPr>
          <p:cNvPr id="5" name="Group 5"/>
          <p:cNvGrpSpPr/>
          <p:nvPr/>
        </p:nvGrpSpPr>
        <p:grpSpPr>
          <a:xfrm>
            <a:off x="-17625" y="8692575"/>
            <a:ext cx="18323250" cy="1604250"/>
            <a:chOff x="0" y="0"/>
            <a:chExt cx="24431000" cy="2139000"/>
          </a:xfrm>
        </p:grpSpPr>
        <p:sp>
          <p:nvSpPr>
            <p:cNvPr id="6" name="Freeform 6"/>
            <p:cNvSpPr/>
            <p:nvPr/>
          </p:nvSpPr>
          <p:spPr>
            <a:xfrm>
              <a:off x="12700" y="12700"/>
              <a:ext cx="24405589" cy="2113661"/>
            </a:xfrm>
            <a:custGeom>
              <a:avLst/>
              <a:gdLst/>
              <a:ahLst/>
              <a:cxnLst/>
              <a:rect l="l" t="t" r="r" b="b"/>
              <a:pathLst>
                <a:path w="24405589" h="2113661">
                  <a:moveTo>
                    <a:pt x="0" y="0"/>
                  </a:moveTo>
                  <a:lnTo>
                    <a:pt x="24405589" y="0"/>
                  </a:lnTo>
                  <a:lnTo>
                    <a:pt x="24405589" y="2113661"/>
                  </a:lnTo>
                  <a:lnTo>
                    <a:pt x="0" y="2113661"/>
                  </a:lnTo>
                  <a:close/>
                </a:path>
              </a:pathLst>
            </a:custGeom>
            <a:solidFill>
              <a:srgbClr val="FF7701"/>
            </a:solidFill>
            <a:ln w="12700">
              <a:solidFill>
                <a:srgbClr val="000000"/>
              </a:solidFill>
            </a:ln>
          </p:spPr>
        </p:sp>
        <p:sp>
          <p:nvSpPr>
            <p:cNvPr id="7" name="Freeform 7"/>
            <p:cNvSpPr/>
            <p:nvPr/>
          </p:nvSpPr>
          <p:spPr>
            <a:xfrm>
              <a:off x="0" y="0"/>
              <a:ext cx="24430989" cy="2139061"/>
            </a:xfrm>
            <a:custGeom>
              <a:avLst/>
              <a:gdLst/>
              <a:ahLst/>
              <a:cxnLst/>
              <a:rect l="l" t="t" r="r" b="b"/>
              <a:pathLst>
                <a:path w="24430989" h="2139061">
                  <a:moveTo>
                    <a:pt x="12700" y="0"/>
                  </a:moveTo>
                  <a:lnTo>
                    <a:pt x="24418289" y="0"/>
                  </a:lnTo>
                  <a:cubicBezTo>
                    <a:pt x="24425275" y="0"/>
                    <a:pt x="24430989" y="5715"/>
                    <a:pt x="24430989" y="12700"/>
                  </a:cubicBezTo>
                  <a:lnTo>
                    <a:pt x="24430989" y="2126361"/>
                  </a:lnTo>
                  <a:cubicBezTo>
                    <a:pt x="24430989" y="2133346"/>
                    <a:pt x="24425275" y="2139061"/>
                    <a:pt x="24418289" y="2139061"/>
                  </a:cubicBezTo>
                  <a:lnTo>
                    <a:pt x="12700" y="2139061"/>
                  </a:lnTo>
                  <a:cubicBezTo>
                    <a:pt x="5715" y="2139061"/>
                    <a:pt x="0" y="2133346"/>
                    <a:pt x="0" y="2126361"/>
                  </a:cubicBezTo>
                  <a:lnTo>
                    <a:pt x="0" y="12700"/>
                  </a:lnTo>
                  <a:cubicBezTo>
                    <a:pt x="0" y="5715"/>
                    <a:pt x="5715" y="0"/>
                    <a:pt x="12700" y="0"/>
                  </a:cubicBezTo>
                  <a:moveTo>
                    <a:pt x="12700" y="25400"/>
                  </a:moveTo>
                  <a:lnTo>
                    <a:pt x="12700" y="12700"/>
                  </a:lnTo>
                  <a:lnTo>
                    <a:pt x="25400" y="12700"/>
                  </a:lnTo>
                  <a:lnTo>
                    <a:pt x="25400" y="2126361"/>
                  </a:lnTo>
                  <a:lnTo>
                    <a:pt x="12700" y="2126361"/>
                  </a:lnTo>
                  <a:lnTo>
                    <a:pt x="12700" y="2113661"/>
                  </a:lnTo>
                  <a:lnTo>
                    <a:pt x="24418289" y="2113661"/>
                  </a:lnTo>
                  <a:lnTo>
                    <a:pt x="24418289" y="2126361"/>
                  </a:lnTo>
                  <a:lnTo>
                    <a:pt x="24405589" y="2126361"/>
                  </a:lnTo>
                  <a:lnTo>
                    <a:pt x="24405589" y="12700"/>
                  </a:lnTo>
                  <a:lnTo>
                    <a:pt x="24418289" y="12700"/>
                  </a:lnTo>
                  <a:lnTo>
                    <a:pt x="24418289" y="25400"/>
                  </a:lnTo>
                  <a:lnTo>
                    <a:pt x="12700" y="25400"/>
                  </a:lnTo>
                  <a:close/>
                </a:path>
              </a:pathLst>
            </a:custGeom>
            <a:solidFill>
              <a:srgbClr val="595959"/>
            </a:solidFill>
            <a:ln w="12700">
              <a:solidFill>
                <a:srgbClr val="000000"/>
              </a:solidFill>
            </a:ln>
          </p:spPr>
        </p:sp>
      </p:grpSp>
      <p:grpSp>
        <p:nvGrpSpPr>
          <p:cNvPr id="8" name="Group 8"/>
          <p:cNvGrpSpPr>
            <a:grpSpLocks noChangeAspect="1"/>
          </p:cNvGrpSpPr>
          <p:nvPr/>
        </p:nvGrpSpPr>
        <p:grpSpPr>
          <a:xfrm>
            <a:off x="15212100" y="8797350"/>
            <a:ext cx="1393202" cy="1394652"/>
            <a:chOff x="0" y="0"/>
            <a:chExt cx="1857603" cy="1859536"/>
          </a:xfrm>
        </p:grpSpPr>
        <p:sp>
          <p:nvSpPr>
            <p:cNvPr id="9" name="Freeform 9"/>
            <p:cNvSpPr/>
            <p:nvPr/>
          </p:nvSpPr>
          <p:spPr>
            <a:xfrm>
              <a:off x="0" y="0"/>
              <a:ext cx="1857629" cy="1859534"/>
            </a:xfrm>
            <a:custGeom>
              <a:avLst/>
              <a:gdLst/>
              <a:ahLst/>
              <a:cxnLst/>
              <a:rect l="l" t="t" r="r" b="b"/>
              <a:pathLst>
                <a:path w="1857629" h="1859534">
                  <a:moveTo>
                    <a:pt x="0" y="0"/>
                  </a:moveTo>
                  <a:lnTo>
                    <a:pt x="1857629" y="0"/>
                  </a:lnTo>
                  <a:lnTo>
                    <a:pt x="1857629" y="1859534"/>
                  </a:lnTo>
                  <a:lnTo>
                    <a:pt x="0" y="1859534"/>
                  </a:lnTo>
                  <a:lnTo>
                    <a:pt x="0" y="0"/>
                  </a:lnTo>
                  <a:close/>
                </a:path>
              </a:pathLst>
            </a:custGeom>
            <a:blipFill>
              <a:blip r:embed="rId3"/>
              <a:stretch>
                <a:fillRect l="-1"/>
              </a:stretch>
            </a:blipFill>
          </p:spPr>
        </p:sp>
      </p:grpSp>
      <p:sp>
        <p:nvSpPr>
          <p:cNvPr id="10" name="TextBox 10"/>
          <p:cNvSpPr txBox="1"/>
          <p:nvPr/>
        </p:nvSpPr>
        <p:spPr>
          <a:xfrm>
            <a:off x="8050725" y="8949800"/>
            <a:ext cx="7069950" cy="1046325"/>
          </a:xfrm>
          <a:prstGeom prst="rect">
            <a:avLst/>
          </a:prstGeom>
        </p:spPr>
        <p:txBody>
          <a:bodyPr lIns="0" tIns="0" rIns="0" bIns="0" rtlCol="0" anchor="t">
            <a:spAutoFit/>
          </a:bodyPr>
          <a:lstStyle/>
          <a:p>
            <a:pPr algn="r">
              <a:lnSpc>
                <a:spcPts val="2400"/>
              </a:lnSpc>
            </a:pPr>
            <a:r>
              <a:rPr lang="en-US" sz="2000" b="1">
                <a:solidFill>
                  <a:srgbClr val="000000"/>
                </a:solidFill>
                <a:latin typeface="Poppins Bold"/>
                <a:ea typeface="Poppins Bold"/>
                <a:cs typeface="Poppins Bold"/>
                <a:sym typeface="Poppins Bold"/>
              </a:rPr>
              <a:t>BUKIDNON STATE UNIVERSITY</a:t>
            </a:r>
          </a:p>
          <a:p>
            <a:pPr algn="r">
              <a:lnSpc>
                <a:spcPts val="2160"/>
              </a:lnSpc>
            </a:pPr>
            <a:r>
              <a:rPr lang="en-US" sz="1800" b="1">
                <a:solidFill>
                  <a:srgbClr val="000000"/>
                </a:solidFill>
                <a:latin typeface="Poppins Bold"/>
                <a:ea typeface="Poppins Bold"/>
                <a:cs typeface="Poppins Bold"/>
                <a:sym typeface="Poppins Bold"/>
              </a:rPr>
              <a:t>COLLEGE OF TECHNOLOGIES</a:t>
            </a:r>
          </a:p>
          <a:p>
            <a:pPr algn="r">
              <a:lnSpc>
                <a:spcPts val="1920"/>
              </a:lnSpc>
            </a:pPr>
            <a:r>
              <a:rPr lang="en-US" sz="1600">
                <a:solidFill>
                  <a:srgbClr val="000000"/>
                </a:solidFill>
                <a:latin typeface="Poppins"/>
                <a:ea typeface="Poppins"/>
                <a:cs typeface="Poppins"/>
                <a:sym typeface="Poppins"/>
              </a:rPr>
              <a:t>Information Technology Department</a:t>
            </a:r>
          </a:p>
        </p:txBody>
      </p:sp>
      <p:grpSp>
        <p:nvGrpSpPr>
          <p:cNvPr id="11" name="Group 11"/>
          <p:cNvGrpSpPr>
            <a:grpSpLocks noChangeAspect="1"/>
          </p:cNvGrpSpPr>
          <p:nvPr/>
        </p:nvGrpSpPr>
        <p:grpSpPr>
          <a:xfrm>
            <a:off x="16682800" y="8836274"/>
            <a:ext cx="1316802" cy="1316802"/>
            <a:chOff x="0" y="0"/>
            <a:chExt cx="1755736" cy="1755736"/>
          </a:xfrm>
        </p:grpSpPr>
        <p:sp>
          <p:nvSpPr>
            <p:cNvPr id="12" name="Freeform 12"/>
            <p:cNvSpPr/>
            <p:nvPr/>
          </p:nvSpPr>
          <p:spPr>
            <a:xfrm>
              <a:off x="0" y="0"/>
              <a:ext cx="1755775" cy="1755775"/>
            </a:xfrm>
            <a:custGeom>
              <a:avLst/>
              <a:gdLst/>
              <a:ahLst/>
              <a:cxnLst/>
              <a:rect l="l" t="t" r="r" b="b"/>
              <a:pathLst>
                <a:path w="1755775" h="1755775">
                  <a:moveTo>
                    <a:pt x="0" y="0"/>
                  </a:moveTo>
                  <a:lnTo>
                    <a:pt x="1755775" y="0"/>
                  </a:lnTo>
                  <a:lnTo>
                    <a:pt x="1755775" y="1755775"/>
                  </a:lnTo>
                  <a:lnTo>
                    <a:pt x="0" y="1755775"/>
                  </a:lnTo>
                  <a:lnTo>
                    <a:pt x="0" y="0"/>
                  </a:lnTo>
                  <a:close/>
                </a:path>
              </a:pathLst>
            </a:custGeom>
            <a:blipFill>
              <a:blip r:embed="rId4"/>
              <a:stretch>
                <a:fillRect r="2" b="2"/>
              </a:stretch>
            </a:blipFill>
          </p:spPr>
        </p:sp>
      </p:grpSp>
      <p:grpSp>
        <p:nvGrpSpPr>
          <p:cNvPr id="13" name="Group 13"/>
          <p:cNvGrpSpPr/>
          <p:nvPr/>
        </p:nvGrpSpPr>
        <p:grpSpPr>
          <a:xfrm>
            <a:off x="883748" y="414376"/>
            <a:ext cx="16489850" cy="4105200"/>
            <a:chOff x="0" y="0"/>
            <a:chExt cx="21986467" cy="5473600"/>
          </a:xfrm>
        </p:grpSpPr>
        <p:sp>
          <p:nvSpPr>
            <p:cNvPr id="14" name="Freeform 14"/>
            <p:cNvSpPr/>
            <p:nvPr/>
          </p:nvSpPr>
          <p:spPr>
            <a:xfrm>
              <a:off x="0" y="0"/>
              <a:ext cx="21986467" cy="5473600"/>
            </a:xfrm>
            <a:custGeom>
              <a:avLst/>
              <a:gdLst/>
              <a:ahLst/>
              <a:cxnLst/>
              <a:rect l="l" t="t" r="r" b="b"/>
              <a:pathLst>
                <a:path w="21986467" h="5473600">
                  <a:moveTo>
                    <a:pt x="0" y="0"/>
                  </a:moveTo>
                  <a:lnTo>
                    <a:pt x="21986467" y="0"/>
                  </a:lnTo>
                  <a:lnTo>
                    <a:pt x="21986467" y="5473600"/>
                  </a:lnTo>
                  <a:lnTo>
                    <a:pt x="0" y="5473600"/>
                  </a:lnTo>
                  <a:close/>
                </a:path>
              </a:pathLst>
            </a:custGeom>
            <a:solidFill>
              <a:srgbClr val="000000">
                <a:alpha val="0"/>
              </a:srgbClr>
            </a:solidFill>
          </p:spPr>
        </p:sp>
        <p:sp>
          <p:nvSpPr>
            <p:cNvPr id="15" name="TextBox 15"/>
            <p:cNvSpPr txBox="1"/>
            <p:nvPr/>
          </p:nvSpPr>
          <p:spPr>
            <a:xfrm>
              <a:off x="0" y="-66675"/>
              <a:ext cx="21986467" cy="5540275"/>
            </a:xfrm>
            <a:prstGeom prst="rect">
              <a:avLst/>
            </a:prstGeom>
          </p:spPr>
          <p:txBody>
            <a:bodyPr lIns="0" tIns="0" rIns="0" bIns="0" rtlCol="0" anchor="b"/>
            <a:lstStyle/>
            <a:p>
              <a:pPr algn="l">
                <a:lnSpc>
                  <a:spcPts val="8640"/>
                </a:lnSpc>
              </a:pPr>
              <a:r>
                <a:rPr lang="en-US" sz="7200" dirty="0">
                  <a:solidFill>
                    <a:srgbClr val="FF7701"/>
                  </a:solidFill>
                  <a:latin typeface="Poppins"/>
                  <a:ea typeface="Poppins"/>
                  <a:cs typeface="Poppins"/>
                  <a:sym typeface="Poppins"/>
                </a:rPr>
                <a:t>Eris </a:t>
              </a:r>
              <a:r>
                <a:rPr lang="en-US" sz="7200" dirty="0">
                  <a:solidFill>
                    <a:schemeClr val="accent6">
                      <a:lumMod val="75000"/>
                    </a:schemeClr>
                  </a:solidFill>
                  <a:latin typeface="Poppins"/>
                  <a:ea typeface="Poppins"/>
                  <a:cs typeface="Poppins"/>
                  <a:sym typeface="Poppins"/>
                  <a:hlinkClick r:id="rId5" tooltip="https://www.facebook.com/CafesaBukid/">
                    <a:extLst>
                      <a:ext uri="{A12FA001-AC4F-418D-AE19-62706E023703}">
                        <ahyp:hlinkClr xmlns:ahyp="http://schemas.microsoft.com/office/drawing/2018/hyperlinkcolor" val="tx"/>
                      </a:ext>
                    </a:extLst>
                  </a:hlinkClick>
                </a:rPr>
                <a:t>Café </a:t>
              </a:r>
              <a:r>
                <a:rPr lang="en-US" sz="7200" dirty="0">
                  <a:solidFill>
                    <a:srgbClr val="FF7701"/>
                  </a:solidFill>
                  <a:latin typeface="Poppins"/>
                  <a:ea typeface="Poppins"/>
                  <a:cs typeface="Poppins"/>
                  <a:sym typeface="Poppins"/>
                </a:rPr>
                <a:t>System</a:t>
              </a:r>
            </a:p>
          </p:txBody>
        </p:sp>
      </p:grpSp>
      <p:sp>
        <p:nvSpPr>
          <p:cNvPr id="16" name="TextBox 16"/>
          <p:cNvSpPr txBox="1"/>
          <p:nvPr/>
        </p:nvSpPr>
        <p:spPr>
          <a:xfrm>
            <a:off x="975173" y="5061804"/>
            <a:ext cx="12038380" cy="2638044"/>
          </a:xfrm>
          <a:prstGeom prst="rect">
            <a:avLst/>
          </a:prstGeom>
        </p:spPr>
        <p:txBody>
          <a:bodyPr lIns="0" tIns="0" rIns="0" bIns="0" rtlCol="0" anchor="t">
            <a:spAutoFit/>
          </a:bodyPr>
          <a:lstStyle/>
          <a:p>
            <a:pPr algn="l">
              <a:lnSpc>
                <a:spcPts val="3456"/>
              </a:lnSpc>
            </a:pPr>
            <a:r>
              <a:rPr lang="en-US" sz="3200">
                <a:solidFill>
                  <a:srgbClr val="FFB647"/>
                </a:solidFill>
                <a:latin typeface="Poppins"/>
                <a:ea typeface="Poppins"/>
                <a:cs typeface="Poppins"/>
                <a:sym typeface="Poppins"/>
              </a:rPr>
              <a:t>  Gregg Reiven R. Babaylan</a:t>
            </a:r>
          </a:p>
          <a:p>
            <a:pPr algn="l">
              <a:lnSpc>
                <a:spcPts val="3456"/>
              </a:lnSpc>
            </a:pPr>
            <a:r>
              <a:rPr lang="en-US" sz="3200">
                <a:solidFill>
                  <a:srgbClr val="FFB647"/>
                </a:solidFill>
                <a:latin typeface="Poppins"/>
                <a:ea typeface="Poppins"/>
                <a:cs typeface="Poppins"/>
                <a:sym typeface="Poppins"/>
              </a:rPr>
              <a:t>  Arcel Jhon D. Macasling</a:t>
            </a:r>
          </a:p>
          <a:p>
            <a:pPr algn="l">
              <a:lnSpc>
                <a:spcPts val="3456"/>
              </a:lnSpc>
            </a:pPr>
            <a:r>
              <a:rPr lang="en-US" sz="3200">
                <a:solidFill>
                  <a:srgbClr val="FFB647"/>
                </a:solidFill>
                <a:latin typeface="Poppins"/>
                <a:ea typeface="Poppins"/>
                <a:cs typeface="Poppins"/>
                <a:sym typeface="Poppins"/>
              </a:rPr>
              <a:t>  Angelie Marie B. Dinawanao</a:t>
            </a:r>
          </a:p>
          <a:p>
            <a:pPr algn="l">
              <a:lnSpc>
                <a:spcPts val="3456"/>
              </a:lnSpc>
            </a:pPr>
            <a:r>
              <a:rPr lang="en-US" sz="3200">
                <a:solidFill>
                  <a:srgbClr val="FFB647"/>
                </a:solidFill>
                <a:latin typeface="Poppins"/>
                <a:ea typeface="Poppins"/>
                <a:cs typeface="Poppins"/>
                <a:sym typeface="Poppins"/>
              </a:rPr>
              <a:t>  Sciatzy Marie A. Rabina</a:t>
            </a:r>
          </a:p>
          <a:p>
            <a:pPr algn="l">
              <a:lnSpc>
                <a:spcPts val="3456"/>
              </a:lnSpc>
            </a:pPr>
            <a:endParaRPr lang="en-US" sz="3200">
              <a:solidFill>
                <a:srgbClr val="FFB647"/>
              </a:solidFill>
              <a:latin typeface="Poppins"/>
              <a:ea typeface="Poppins"/>
              <a:cs typeface="Poppins"/>
              <a:sym typeface="Poppins"/>
            </a:endParaRPr>
          </a:p>
          <a:p>
            <a:pPr algn="l">
              <a:lnSpc>
                <a:spcPts val="3240"/>
              </a:lnSpc>
            </a:pPr>
            <a:r>
              <a:rPr lang="en-US" sz="3000">
                <a:solidFill>
                  <a:srgbClr val="FFB647"/>
                </a:solidFill>
                <a:latin typeface="Poppins"/>
                <a:ea typeface="Poppins"/>
                <a:cs typeface="Poppins"/>
                <a:sym typeface="Poppins"/>
              </a:rPr>
              <a:t>1ˢᵗ Semester – AY 2025 - 2026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25" y="8692575"/>
            <a:ext cx="18323250" cy="1604250"/>
            <a:chOff x="0" y="0"/>
            <a:chExt cx="24431000" cy="2139000"/>
          </a:xfrm>
        </p:grpSpPr>
        <p:sp>
          <p:nvSpPr>
            <p:cNvPr id="3" name="Freeform 3"/>
            <p:cNvSpPr/>
            <p:nvPr/>
          </p:nvSpPr>
          <p:spPr>
            <a:xfrm>
              <a:off x="12700" y="12700"/>
              <a:ext cx="24405589" cy="2113661"/>
            </a:xfrm>
            <a:custGeom>
              <a:avLst/>
              <a:gdLst/>
              <a:ahLst/>
              <a:cxnLst/>
              <a:rect l="l" t="t" r="r" b="b"/>
              <a:pathLst>
                <a:path w="24405589" h="2113661">
                  <a:moveTo>
                    <a:pt x="0" y="0"/>
                  </a:moveTo>
                  <a:lnTo>
                    <a:pt x="24405589" y="0"/>
                  </a:lnTo>
                  <a:lnTo>
                    <a:pt x="24405589" y="2113661"/>
                  </a:lnTo>
                  <a:lnTo>
                    <a:pt x="0" y="2113661"/>
                  </a:lnTo>
                  <a:close/>
                </a:path>
              </a:pathLst>
            </a:custGeom>
            <a:solidFill>
              <a:srgbClr val="FF7701"/>
            </a:solidFill>
            <a:ln w="12700">
              <a:solidFill>
                <a:srgbClr val="000000"/>
              </a:solidFill>
            </a:ln>
          </p:spPr>
        </p:sp>
        <p:sp>
          <p:nvSpPr>
            <p:cNvPr id="4" name="Freeform 4"/>
            <p:cNvSpPr/>
            <p:nvPr/>
          </p:nvSpPr>
          <p:spPr>
            <a:xfrm>
              <a:off x="0" y="0"/>
              <a:ext cx="24430989" cy="2139061"/>
            </a:xfrm>
            <a:custGeom>
              <a:avLst/>
              <a:gdLst/>
              <a:ahLst/>
              <a:cxnLst/>
              <a:rect l="l" t="t" r="r" b="b"/>
              <a:pathLst>
                <a:path w="24430989" h="2139061">
                  <a:moveTo>
                    <a:pt x="12700" y="0"/>
                  </a:moveTo>
                  <a:lnTo>
                    <a:pt x="24418289" y="0"/>
                  </a:lnTo>
                  <a:cubicBezTo>
                    <a:pt x="24425275" y="0"/>
                    <a:pt x="24430989" y="5715"/>
                    <a:pt x="24430989" y="12700"/>
                  </a:cubicBezTo>
                  <a:lnTo>
                    <a:pt x="24430989" y="2126361"/>
                  </a:lnTo>
                  <a:cubicBezTo>
                    <a:pt x="24430989" y="2133346"/>
                    <a:pt x="24425275" y="2139061"/>
                    <a:pt x="24418289" y="2139061"/>
                  </a:cubicBezTo>
                  <a:lnTo>
                    <a:pt x="12700" y="2139061"/>
                  </a:lnTo>
                  <a:cubicBezTo>
                    <a:pt x="5715" y="2139061"/>
                    <a:pt x="0" y="2133346"/>
                    <a:pt x="0" y="2126361"/>
                  </a:cubicBezTo>
                  <a:lnTo>
                    <a:pt x="0" y="12700"/>
                  </a:lnTo>
                  <a:cubicBezTo>
                    <a:pt x="0" y="5715"/>
                    <a:pt x="5715" y="0"/>
                    <a:pt x="12700" y="0"/>
                  </a:cubicBezTo>
                  <a:moveTo>
                    <a:pt x="12700" y="25400"/>
                  </a:moveTo>
                  <a:lnTo>
                    <a:pt x="12700" y="12700"/>
                  </a:lnTo>
                  <a:lnTo>
                    <a:pt x="25400" y="12700"/>
                  </a:lnTo>
                  <a:lnTo>
                    <a:pt x="25400" y="2126361"/>
                  </a:lnTo>
                  <a:lnTo>
                    <a:pt x="12700" y="2126361"/>
                  </a:lnTo>
                  <a:lnTo>
                    <a:pt x="12700" y="2113661"/>
                  </a:lnTo>
                  <a:lnTo>
                    <a:pt x="24418289" y="2113661"/>
                  </a:lnTo>
                  <a:lnTo>
                    <a:pt x="24418289" y="2126361"/>
                  </a:lnTo>
                  <a:lnTo>
                    <a:pt x="24405589" y="2126361"/>
                  </a:lnTo>
                  <a:lnTo>
                    <a:pt x="24405589" y="12700"/>
                  </a:lnTo>
                  <a:lnTo>
                    <a:pt x="24418289" y="12700"/>
                  </a:lnTo>
                  <a:lnTo>
                    <a:pt x="24418289" y="25400"/>
                  </a:lnTo>
                  <a:lnTo>
                    <a:pt x="12700" y="25400"/>
                  </a:lnTo>
                  <a:close/>
                </a:path>
              </a:pathLst>
            </a:custGeom>
            <a:solidFill>
              <a:srgbClr val="595959"/>
            </a:solidFill>
            <a:ln w="12700">
              <a:solidFill>
                <a:srgbClr val="000000"/>
              </a:solidFill>
            </a:ln>
          </p:spPr>
        </p:sp>
      </p:grpSp>
      <p:grpSp>
        <p:nvGrpSpPr>
          <p:cNvPr id="5" name="Group 5"/>
          <p:cNvGrpSpPr>
            <a:grpSpLocks noChangeAspect="1"/>
          </p:cNvGrpSpPr>
          <p:nvPr/>
        </p:nvGrpSpPr>
        <p:grpSpPr>
          <a:xfrm>
            <a:off x="15212100" y="8797350"/>
            <a:ext cx="1393202" cy="1394652"/>
            <a:chOff x="0" y="0"/>
            <a:chExt cx="1857603" cy="1859536"/>
          </a:xfrm>
        </p:grpSpPr>
        <p:sp>
          <p:nvSpPr>
            <p:cNvPr id="6" name="Freeform 6"/>
            <p:cNvSpPr/>
            <p:nvPr/>
          </p:nvSpPr>
          <p:spPr>
            <a:xfrm>
              <a:off x="0" y="0"/>
              <a:ext cx="1857629" cy="1859534"/>
            </a:xfrm>
            <a:custGeom>
              <a:avLst/>
              <a:gdLst/>
              <a:ahLst/>
              <a:cxnLst/>
              <a:rect l="l" t="t" r="r" b="b"/>
              <a:pathLst>
                <a:path w="1857629" h="1859534">
                  <a:moveTo>
                    <a:pt x="0" y="0"/>
                  </a:moveTo>
                  <a:lnTo>
                    <a:pt x="1857629" y="0"/>
                  </a:lnTo>
                  <a:lnTo>
                    <a:pt x="1857629" y="1859534"/>
                  </a:lnTo>
                  <a:lnTo>
                    <a:pt x="0" y="1859534"/>
                  </a:lnTo>
                  <a:lnTo>
                    <a:pt x="0" y="0"/>
                  </a:lnTo>
                  <a:close/>
                </a:path>
              </a:pathLst>
            </a:custGeom>
            <a:blipFill>
              <a:blip r:embed="rId3"/>
              <a:stretch>
                <a:fillRect l="-1"/>
              </a:stretch>
            </a:blipFill>
          </p:spPr>
        </p:sp>
      </p:grpSp>
      <p:sp>
        <p:nvSpPr>
          <p:cNvPr id="7" name="TextBox 7"/>
          <p:cNvSpPr txBox="1"/>
          <p:nvPr/>
        </p:nvSpPr>
        <p:spPr>
          <a:xfrm>
            <a:off x="8050725" y="8959325"/>
            <a:ext cx="7069950" cy="1174968"/>
          </a:xfrm>
          <a:prstGeom prst="rect">
            <a:avLst/>
          </a:prstGeom>
        </p:spPr>
        <p:txBody>
          <a:bodyPr lIns="0" tIns="0" rIns="0" bIns="0" rtlCol="0" anchor="t">
            <a:spAutoFit/>
          </a:bodyPr>
          <a:lstStyle/>
          <a:p>
            <a:pPr algn="r">
              <a:lnSpc>
                <a:spcPts val="2640"/>
              </a:lnSpc>
            </a:pPr>
            <a:r>
              <a:rPr lang="en-US" sz="2200" b="1">
                <a:solidFill>
                  <a:srgbClr val="000000"/>
                </a:solidFill>
                <a:latin typeface="Poppins Bold"/>
                <a:ea typeface="Poppins Bold"/>
                <a:cs typeface="Poppins Bold"/>
                <a:sym typeface="Poppins Bold"/>
              </a:rPr>
              <a:t>BUKIDNON STATE UNIVERSITY</a:t>
            </a:r>
          </a:p>
          <a:p>
            <a:pPr algn="r">
              <a:lnSpc>
                <a:spcPts val="2520"/>
              </a:lnSpc>
            </a:pPr>
            <a:r>
              <a:rPr lang="en-US" sz="2100" b="1">
                <a:solidFill>
                  <a:srgbClr val="000000"/>
                </a:solidFill>
                <a:latin typeface="Poppins Bold"/>
                <a:ea typeface="Poppins Bold"/>
                <a:cs typeface="Poppins Bold"/>
                <a:sym typeface="Poppins Bold"/>
              </a:rPr>
              <a:t>COLLEGE OF TECHNOLOGIES</a:t>
            </a:r>
          </a:p>
          <a:p>
            <a:pPr algn="r">
              <a:lnSpc>
                <a:spcPts val="2400"/>
              </a:lnSpc>
            </a:pPr>
            <a:r>
              <a:rPr lang="en-US" sz="2000">
                <a:solidFill>
                  <a:srgbClr val="000000"/>
                </a:solidFill>
                <a:latin typeface="Poppins"/>
                <a:ea typeface="Poppins"/>
                <a:cs typeface="Poppins"/>
                <a:sym typeface="Poppins"/>
              </a:rPr>
              <a:t>Information Technology Department</a:t>
            </a:r>
          </a:p>
        </p:txBody>
      </p:sp>
      <p:grpSp>
        <p:nvGrpSpPr>
          <p:cNvPr id="8" name="Group 8"/>
          <p:cNvGrpSpPr>
            <a:grpSpLocks noChangeAspect="1"/>
          </p:cNvGrpSpPr>
          <p:nvPr/>
        </p:nvGrpSpPr>
        <p:grpSpPr>
          <a:xfrm>
            <a:off x="16682800" y="8836274"/>
            <a:ext cx="1316802" cy="1316802"/>
            <a:chOff x="0" y="0"/>
            <a:chExt cx="1755736" cy="1755736"/>
          </a:xfrm>
        </p:grpSpPr>
        <p:sp>
          <p:nvSpPr>
            <p:cNvPr id="9" name="Freeform 9"/>
            <p:cNvSpPr/>
            <p:nvPr/>
          </p:nvSpPr>
          <p:spPr>
            <a:xfrm>
              <a:off x="0" y="0"/>
              <a:ext cx="1755775" cy="1755775"/>
            </a:xfrm>
            <a:custGeom>
              <a:avLst/>
              <a:gdLst/>
              <a:ahLst/>
              <a:cxnLst/>
              <a:rect l="l" t="t" r="r" b="b"/>
              <a:pathLst>
                <a:path w="1755775" h="1755775">
                  <a:moveTo>
                    <a:pt x="0" y="0"/>
                  </a:moveTo>
                  <a:lnTo>
                    <a:pt x="1755775" y="0"/>
                  </a:lnTo>
                  <a:lnTo>
                    <a:pt x="1755775" y="1755775"/>
                  </a:lnTo>
                  <a:lnTo>
                    <a:pt x="0" y="1755775"/>
                  </a:lnTo>
                  <a:lnTo>
                    <a:pt x="0" y="0"/>
                  </a:lnTo>
                  <a:close/>
                </a:path>
              </a:pathLst>
            </a:custGeom>
            <a:blipFill>
              <a:blip r:embed="rId4"/>
              <a:stretch>
                <a:fillRect r="2" b="2"/>
              </a:stretch>
            </a:blipFill>
          </p:spPr>
        </p:sp>
      </p:grpSp>
      <p:sp>
        <p:nvSpPr>
          <p:cNvPr id="10" name="TextBox 10"/>
          <p:cNvSpPr txBox="1"/>
          <p:nvPr/>
        </p:nvSpPr>
        <p:spPr>
          <a:xfrm>
            <a:off x="714825" y="924325"/>
            <a:ext cx="16858350" cy="819150"/>
          </a:xfrm>
          <a:prstGeom prst="rect">
            <a:avLst/>
          </a:prstGeom>
        </p:spPr>
        <p:txBody>
          <a:bodyPr lIns="0" tIns="0" rIns="0" bIns="0" rtlCol="0" anchor="t">
            <a:spAutoFit/>
          </a:bodyPr>
          <a:lstStyle/>
          <a:p>
            <a:pPr algn="l">
              <a:lnSpc>
                <a:spcPts val="6047"/>
              </a:lnSpc>
            </a:pPr>
            <a:r>
              <a:rPr lang="en-US" sz="5039" b="1" i="1">
                <a:solidFill>
                  <a:srgbClr val="000000"/>
                </a:solidFill>
                <a:latin typeface="Poppins Bold Italics"/>
                <a:ea typeface="Poppins Bold Italics"/>
                <a:cs typeface="Poppins Bold Italics"/>
                <a:sym typeface="Poppins Bold Italics"/>
              </a:rPr>
              <a:t>Project Overview &amp; Objectives</a:t>
            </a:r>
          </a:p>
        </p:txBody>
      </p:sp>
      <p:sp>
        <p:nvSpPr>
          <p:cNvPr id="11" name="TextBox 11"/>
          <p:cNvSpPr txBox="1"/>
          <p:nvPr/>
        </p:nvSpPr>
        <p:spPr>
          <a:xfrm>
            <a:off x="714825" y="2139200"/>
            <a:ext cx="16858350" cy="6068760"/>
          </a:xfrm>
          <a:prstGeom prst="rect">
            <a:avLst/>
          </a:prstGeom>
        </p:spPr>
        <p:txBody>
          <a:bodyPr lIns="0" tIns="0" rIns="0" bIns="0" rtlCol="0" anchor="t">
            <a:spAutoFit/>
          </a:bodyPr>
          <a:lstStyle/>
          <a:p>
            <a:pPr marL="820417" lvl="1" indent="-410209" algn="l">
              <a:lnSpc>
                <a:spcPts val="6801"/>
              </a:lnSpc>
              <a:buFont typeface="Arial"/>
              <a:buChar char="•"/>
            </a:pPr>
            <a:r>
              <a:rPr lang="en-US" sz="3799">
                <a:solidFill>
                  <a:srgbClr val="000000"/>
                </a:solidFill>
                <a:latin typeface="Poppins"/>
                <a:ea typeface="Poppins"/>
                <a:cs typeface="Poppins"/>
                <a:sym typeface="Poppins"/>
              </a:rPr>
              <a:t>Enhance Customer Convenience</a:t>
            </a:r>
          </a:p>
          <a:p>
            <a:pPr marL="820417" lvl="1" indent="-410209" algn="l">
              <a:lnSpc>
                <a:spcPts val="6801"/>
              </a:lnSpc>
              <a:buFont typeface="Arial"/>
              <a:buChar char="•"/>
            </a:pPr>
            <a:r>
              <a:rPr lang="en-US" sz="3799">
                <a:solidFill>
                  <a:srgbClr val="000000"/>
                </a:solidFill>
                <a:latin typeface="Poppins"/>
                <a:ea typeface="Poppins"/>
                <a:cs typeface="Poppins"/>
                <a:sym typeface="Poppins"/>
              </a:rPr>
              <a:t>Improve Operational Efficiency</a:t>
            </a:r>
          </a:p>
          <a:p>
            <a:pPr marL="820417" lvl="1" indent="-410209" algn="l">
              <a:lnSpc>
                <a:spcPts val="6801"/>
              </a:lnSpc>
              <a:buFont typeface="Arial"/>
              <a:buChar char="•"/>
            </a:pPr>
            <a:r>
              <a:rPr lang="en-US" sz="3799">
                <a:solidFill>
                  <a:srgbClr val="000000"/>
                </a:solidFill>
                <a:latin typeface="Poppins"/>
                <a:ea typeface="Poppins"/>
                <a:cs typeface="Poppins"/>
                <a:sym typeface="Poppins"/>
              </a:rPr>
              <a:t>Strengthen System Security</a:t>
            </a:r>
          </a:p>
          <a:p>
            <a:pPr marL="820417" lvl="1" indent="-410209" algn="l">
              <a:lnSpc>
                <a:spcPts val="6801"/>
              </a:lnSpc>
              <a:buFont typeface="Arial"/>
              <a:buChar char="•"/>
            </a:pPr>
            <a:r>
              <a:rPr lang="en-US" sz="3799">
                <a:solidFill>
                  <a:srgbClr val="000000"/>
                </a:solidFill>
                <a:latin typeface="Poppins"/>
                <a:ea typeface="Poppins"/>
                <a:cs typeface="Poppins"/>
                <a:sym typeface="Poppins"/>
              </a:rPr>
              <a:t>Ensure Accurate Scheduling and Availability</a:t>
            </a:r>
          </a:p>
          <a:p>
            <a:pPr marL="820417" lvl="1" indent="-410209" algn="l">
              <a:lnSpc>
                <a:spcPts val="6801"/>
              </a:lnSpc>
              <a:buFont typeface="Arial"/>
              <a:buChar char="•"/>
            </a:pPr>
            <a:r>
              <a:rPr lang="en-US" sz="3799">
                <a:solidFill>
                  <a:srgbClr val="000000"/>
                </a:solidFill>
                <a:latin typeface="Poppins"/>
                <a:ea typeface="Poppins"/>
                <a:cs typeface="Poppins"/>
                <a:sym typeface="Poppins"/>
              </a:rPr>
              <a:t>Optimize Media and Data Handling</a:t>
            </a:r>
          </a:p>
          <a:p>
            <a:pPr marL="820417" lvl="1" indent="-410209" algn="l">
              <a:lnSpc>
                <a:spcPts val="6801"/>
              </a:lnSpc>
              <a:buFont typeface="Arial"/>
              <a:buChar char="•"/>
            </a:pPr>
            <a:r>
              <a:rPr lang="en-US" sz="3799">
                <a:solidFill>
                  <a:srgbClr val="000000"/>
                </a:solidFill>
                <a:latin typeface="Poppins"/>
                <a:ea typeface="Poppins"/>
                <a:cs typeface="Poppins"/>
                <a:sym typeface="Poppins"/>
              </a:rPr>
              <a:t>Provide Admin/Owner Control and Oversight</a:t>
            </a:r>
          </a:p>
          <a:p>
            <a:pPr algn="l">
              <a:lnSpc>
                <a:spcPts val="7696"/>
              </a:lnSpc>
            </a:pPr>
            <a:endParaRPr lang="en-US" sz="3799">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25" y="8692575"/>
            <a:ext cx="18323250" cy="1604250"/>
            <a:chOff x="0" y="0"/>
            <a:chExt cx="24431000" cy="2139000"/>
          </a:xfrm>
        </p:grpSpPr>
        <p:sp>
          <p:nvSpPr>
            <p:cNvPr id="3" name="Freeform 3"/>
            <p:cNvSpPr/>
            <p:nvPr/>
          </p:nvSpPr>
          <p:spPr>
            <a:xfrm>
              <a:off x="12700" y="12700"/>
              <a:ext cx="24405589" cy="2113661"/>
            </a:xfrm>
            <a:custGeom>
              <a:avLst/>
              <a:gdLst/>
              <a:ahLst/>
              <a:cxnLst/>
              <a:rect l="l" t="t" r="r" b="b"/>
              <a:pathLst>
                <a:path w="24405589" h="2113661">
                  <a:moveTo>
                    <a:pt x="0" y="0"/>
                  </a:moveTo>
                  <a:lnTo>
                    <a:pt x="24405589" y="0"/>
                  </a:lnTo>
                  <a:lnTo>
                    <a:pt x="24405589" y="2113661"/>
                  </a:lnTo>
                  <a:lnTo>
                    <a:pt x="0" y="2113661"/>
                  </a:lnTo>
                  <a:close/>
                </a:path>
              </a:pathLst>
            </a:custGeom>
            <a:solidFill>
              <a:srgbClr val="FF7701"/>
            </a:solidFill>
            <a:ln w="12700">
              <a:solidFill>
                <a:srgbClr val="000000"/>
              </a:solidFill>
            </a:ln>
          </p:spPr>
        </p:sp>
        <p:sp>
          <p:nvSpPr>
            <p:cNvPr id="4" name="Freeform 4"/>
            <p:cNvSpPr/>
            <p:nvPr/>
          </p:nvSpPr>
          <p:spPr>
            <a:xfrm>
              <a:off x="0" y="0"/>
              <a:ext cx="24430989" cy="2139061"/>
            </a:xfrm>
            <a:custGeom>
              <a:avLst/>
              <a:gdLst/>
              <a:ahLst/>
              <a:cxnLst/>
              <a:rect l="l" t="t" r="r" b="b"/>
              <a:pathLst>
                <a:path w="24430989" h="2139061">
                  <a:moveTo>
                    <a:pt x="12700" y="0"/>
                  </a:moveTo>
                  <a:lnTo>
                    <a:pt x="24418289" y="0"/>
                  </a:lnTo>
                  <a:cubicBezTo>
                    <a:pt x="24425275" y="0"/>
                    <a:pt x="24430989" y="5715"/>
                    <a:pt x="24430989" y="12700"/>
                  </a:cubicBezTo>
                  <a:lnTo>
                    <a:pt x="24430989" y="2126361"/>
                  </a:lnTo>
                  <a:cubicBezTo>
                    <a:pt x="24430989" y="2133346"/>
                    <a:pt x="24425275" y="2139061"/>
                    <a:pt x="24418289" y="2139061"/>
                  </a:cubicBezTo>
                  <a:lnTo>
                    <a:pt x="12700" y="2139061"/>
                  </a:lnTo>
                  <a:cubicBezTo>
                    <a:pt x="5715" y="2139061"/>
                    <a:pt x="0" y="2133346"/>
                    <a:pt x="0" y="2126361"/>
                  </a:cubicBezTo>
                  <a:lnTo>
                    <a:pt x="0" y="12700"/>
                  </a:lnTo>
                  <a:cubicBezTo>
                    <a:pt x="0" y="5715"/>
                    <a:pt x="5715" y="0"/>
                    <a:pt x="12700" y="0"/>
                  </a:cubicBezTo>
                  <a:moveTo>
                    <a:pt x="12700" y="25400"/>
                  </a:moveTo>
                  <a:lnTo>
                    <a:pt x="12700" y="12700"/>
                  </a:lnTo>
                  <a:lnTo>
                    <a:pt x="25400" y="12700"/>
                  </a:lnTo>
                  <a:lnTo>
                    <a:pt x="25400" y="2126361"/>
                  </a:lnTo>
                  <a:lnTo>
                    <a:pt x="12700" y="2126361"/>
                  </a:lnTo>
                  <a:lnTo>
                    <a:pt x="12700" y="2113661"/>
                  </a:lnTo>
                  <a:lnTo>
                    <a:pt x="24418289" y="2113661"/>
                  </a:lnTo>
                  <a:lnTo>
                    <a:pt x="24418289" y="2126361"/>
                  </a:lnTo>
                  <a:lnTo>
                    <a:pt x="24405589" y="2126361"/>
                  </a:lnTo>
                  <a:lnTo>
                    <a:pt x="24405589" y="12700"/>
                  </a:lnTo>
                  <a:lnTo>
                    <a:pt x="24418289" y="12700"/>
                  </a:lnTo>
                  <a:lnTo>
                    <a:pt x="24418289" y="25400"/>
                  </a:lnTo>
                  <a:lnTo>
                    <a:pt x="12700" y="25400"/>
                  </a:lnTo>
                  <a:close/>
                </a:path>
              </a:pathLst>
            </a:custGeom>
            <a:solidFill>
              <a:srgbClr val="595959"/>
            </a:solidFill>
            <a:ln w="12700">
              <a:solidFill>
                <a:srgbClr val="000000"/>
              </a:solidFill>
            </a:ln>
          </p:spPr>
        </p:sp>
      </p:grpSp>
      <p:grpSp>
        <p:nvGrpSpPr>
          <p:cNvPr id="5" name="Group 5"/>
          <p:cNvGrpSpPr>
            <a:grpSpLocks noChangeAspect="1"/>
          </p:cNvGrpSpPr>
          <p:nvPr/>
        </p:nvGrpSpPr>
        <p:grpSpPr>
          <a:xfrm>
            <a:off x="15212100" y="8797350"/>
            <a:ext cx="1393202" cy="1394652"/>
            <a:chOff x="0" y="0"/>
            <a:chExt cx="1857603" cy="1859536"/>
          </a:xfrm>
        </p:grpSpPr>
        <p:sp>
          <p:nvSpPr>
            <p:cNvPr id="6" name="Freeform 6"/>
            <p:cNvSpPr/>
            <p:nvPr/>
          </p:nvSpPr>
          <p:spPr>
            <a:xfrm>
              <a:off x="0" y="0"/>
              <a:ext cx="1857629" cy="1859534"/>
            </a:xfrm>
            <a:custGeom>
              <a:avLst/>
              <a:gdLst/>
              <a:ahLst/>
              <a:cxnLst/>
              <a:rect l="l" t="t" r="r" b="b"/>
              <a:pathLst>
                <a:path w="1857629" h="1859534">
                  <a:moveTo>
                    <a:pt x="0" y="0"/>
                  </a:moveTo>
                  <a:lnTo>
                    <a:pt x="1857629" y="0"/>
                  </a:lnTo>
                  <a:lnTo>
                    <a:pt x="1857629" y="1859534"/>
                  </a:lnTo>
                  <a:lnTo>
                    <a:pt x="0" y="1859534"/>
                  </a:lnTo>
                  <a:lnTo>
                    <a:pt x="0" y="0"/>
                  </a:lnTo>
                  <a:close/>
                </a:path>
              </a:pathLst>
            </a:custGeom>
            <a:blipFill>
              <a:blip r:embed="rId3"/>
              <a:stretch>
                <a:fillRect l="-1"/>
              </a:stretch>
            </a:blipFill>
          </p:spPr>
        </p:sp>
      </p:grpSp>
      <p:sp>
        <p:nvSpPr>
          <p:cNvPr id="7" name="TextBox 7"/>
          <p:cNvSpPr txBox="1"/>
          <p:nvPr/>
        </p:nvSpPr>
        <p:spPr>
          <a:xfrm>
            <a:off x="8050725" y="8959325"/>
            <a:ext cx="7069950" cy="1174968"/>
          </a:xfrm>
          <a:prstGeom prst="rect">
            <a:avLst/>
          </a:prstGeom>
        </p:spPr>
        <p:txBody>
          <a:bodyPr lIns="0" tIns="0" rIns="0" bIns="0" rtlCol="0" anchor="t">
            <a:spAutoFit/>
          </a:bodyPr>
          <a:lstStyle/>
          <a:p>
            <a:pPr algn="r">
              <a:lnSpc>
                <a:spcPts val="2640"/>
              </a:lnSpc>
            </a:pPr>
            <a:r>
              <a:rPr lang="en-US" sz="2200" b="1">
                <a:solidFill>
                  <a:srgbClr val="000000"/>
                </a:solidFill>
                <a:latin typeface="Poppins Bold"/>
                <a:ea typeface="Poppins Bold"/>
                <a:cs typeface="Poppins Bold"/>
                <a:sym typeface="Poppins Bold"/>
              </a:rPr>
              <a:t>BUKIDNON STATE UNIVERSITY</a:t>
            </a:r>
          </a:p>
          <a:p>
            <a:pPr algn="r">
              <a:lnSpc>
                <a:spcPts val="2520"/>
              </a:lnSpc>
            </a:pPr>
            <a:r>
              <a:rPr lang="en-US" sz="2100" b="1">
                <a:solidFill>
                  <a:srgbClr val="000000"/>
                </a:solidFill>
                <a:latin typeface="Poppins Bold"/>
                <a:ea typeface="Poppins Bold"/>
                <a:cs typeface="Poppins Bold"/>
                <a:sym typeface="Poppins Bold"/>
              </a:rPr>
              <a:t>COLLEGE OF TECHNOLOGIES</a:t>
            </a:r>
          </a:p>
          <a:p>
            <a:pPr algn="r">
              <a:lnSpc>
                <a:spcPts val="2400"/>
              </a:lnSpc>
            </a:pPr>
            <a:r>
              <a:rPr lang="en-US" sz="2000">
                <a:solidFill>
                  <a:srgbClr val="000000"/>
                </a:solidFill>
                <a:latin typeface="Poppins"/>
                <a:ea typeface="Poppins"/>
                <a:cs typeface="Poppins"/>
                <a:sym typeface="Poppins"/>
              </a:rPr>
              <a:t>Information Technology Department</a:t>
            </a:r>
          </a:p>
        </p:txBody>
      </p:sp>
      <p:grpSp>
        <p:nvGrpSpPr>
          <p:cNvPr id="8" name="Group 8"/>
          <p:cNvGrpSpPr>
            <a:grpSpLocks noChangeAspect="1"/>
          </p:cNvGrpSpPr>
          <p:nvPr/>
        </p:nvGrpSpPr>
        <p:grpSpPr>
          <a:xfrm>
            <a:off x="16682800" y="8836274"/>
            <a:ext cx="1316802" cy="1316802"/>
            <a:chOff x="0" y="0"/>
            <a:chExt cx="1755736" cy="1755736"/>
          </a:xfrm>
        </p:grpSpPr>
        <p:sp>
          <p:nvSpPr>
            <p:cNvPr id="9" name="Freeform 9"/>
            <p:cNvSpPr/>
            <p:nvPr/>
          </p:nvSpPr>
          <p:spPr>
            <a:xfrm>
              <a:off x="0" y="0"/>
              <a:ext cx="1755775" cy="1755775"/>
            </a:xfrm>
            <a:custGeom>
              <a:avLst/>
              <a:gdLst/>
              <a:ahLst/>
              <a:cxnLst/>
              <a:rect l="l" t="t" r="r" b="b"/>
              <a:pathLst>
                <a:path w="1755775" h="1755775">
                  <a:moveTo>
                    <a:pt x="0" y="0"/>
                  </a:moveTo>
                  <a:lnTo>
                    <a:pt x="1755775" y="0"/>
                  </a:lnTo>
                  <a:lnTo>
                    <a:pt x="1755775" y="1755775"/>
                  </a:lnTo>
                  <a:lnTo>
                    <a:pt x="0" y="1755775"/>
                  </a:lnTo>
                  <a:lnTo>
                    <a:pt x="0" y="0"/>
                  </a:lnTo>
                  <a:close/>
                </a:path>
              </a:pathLst>
            </a:custGeom>
            <a:blipFill>
              <a:blip r:embed="rId4"/>
              <a:stretch>
                <a:fillRect r="2" b="2"/>
              </a:stretch>
            </a:blipFill>
          </p:spPr>
        </p:sp>
      </p:grpSp>
      <p:sp>
        <p:nvSpPr>
          <p:cNvPr id="10" name="TextBox 10"/>
          <p:cNvSpPr txBox="1"/>
          <p:nvPr/>
        </p:nvSpPr>
        <p:spPr>
          <a:xfrm>
            <a:off x="714825" y="924325"/>
            <a:ext cx="16858350" cy="819150"/>
          </a:xfrm>
          <a:prstGeom prst="rect">
            <a:avLst/>
          </a:prstGeom>
        </p:spPr>
        <p:txBody>
          <a:bodyPr lIns="0" tIns="0" rIns="0" bIns="0" rtlCol="0" anchor="t">
            <a:spAutoFit/>
          </a:bodyPr>
          <a:lstStyle/>
          <a:p>
            <a:pPr algn="l">
              <a:lnSpc>
                <a:spcPts val="6047"/>
              </a:lnSpc>
            </a:pPr>
            <a:r>
              <a:rPr lang="en-US" sz="5039" b="1" i="1">
                <a:solidFill>
                  <a:srgbClr val="000000"/>
                </a:solidFill>
                <a:latin typeface="Poppins Bold Italics"/>
                <a:ea typeface="Poppins Bold Italics"/>
                <a:cs typeface="Poppins Bold Italics"/>
                <a:sym typeface="Poppins Bold Italics"/>
              </a:rPr>
              <a:t>System Architecture</a:t>
            </a:r>
          </a:p>
        </p:txBody>
      </p:sp>
      <p:sp>
        <p:nvSpPr>
          <p:cNvPr id="11" name="TextBox 11"/>
          <p:cNvSpPr txBox="1"/>
          <p:nvPr/>
        </p:nvSpPr>
        <p:spPr>
          <a:xfrm>
            <a:off x="714825" y="2139200"/>
            <a:ext cx="16858350" cy="4095496"/>
          </a:xfrm>
          <a:prstGeom prst="rect">
            <a:avLst/>
          </a:prstGeom>
        </p:spPr>
        <p:txBody>
          <a:bodyPr lIns="0" tIns="0" rIns="0" bIns="0" rtlCol="0" anchor="t">
            <a:spAutoFit/>
          </a:bodyPr>
          <a:lstStyle/>
          <a:p>
            <a:pPr marL="820417" lvl="1" indent="-410209" algn="l">
              <a:lnSpc>
                <a:spcPts val="6801"/>
              </a:lnSpc>
              <a:buFont typeface="Arial"/>
              <a:buChar char="•"/>
            </a:pPr>
            <a:r>
              <a:rPr lang="en-US" sz="3799">
                <a:solidFill>
                  <a:srgbClr val="000000"/>
                </a:solidFill>
                <a:latin typeface="Poppins"/>
                <a:ea typeface="Poppins"/>
                <a:cs typeface="Poppins"/>
                <a:sym typeface="Poppins"/>
              </a:rPr>
              <a:t>React-based frontend with Vite</a:t>
            </a:r>
          </a:p>
          <a:p>
            <a:pPr marL="820417" lvl="1" indent="-410209" algn="l">
              <a:lnSpc>
                <a:spcPts val="6801"/>
              </a:lnSpc>
              <a:buFont typeface="Arial"/>
              <a:buChar char="•"/>
            </a:pPr>
            <a:r>
              <a:rPr lang="en-US" sz="3799">
                <a:solidFill>
                  <a:srgbClr val="000000"/>
                </a:solidFill>
                <a:latin typeface="Poppins"/>
                <a:ea typeface="Poppins"/>
                <a:cs typeface="Poppins"/>
                <a:sym typeface="Poppins"/>
              </a:rPr>
              <a:t>Node.js + Express backend with MongoDB</a:t>
            </a:r>
          </a:p>
          <a:p>
            <a:pPr marL="820417" lvl="1" indent="-410209" algn="l">
              <a:lnSpc>
                <a:spcPts val="6801"/>
              </a:lnSpc>
              <a:buFont typeface="Arial"/>
              <a:buChar char="•"/>
            </a:pPr>
            <a:r>
              <a:rPr lang="en-US" sz="3799">
                <a:solidFill>
                  <a:srgbClr val="000000"/>
                </a:solidFill>
                <a:latin typeface="Poppins"/>
                <a:ea typeface="Poppins"/>
                <a:cs typeface="Poppins"/>
                <a:sym typeface="Poppins"/>
              </a:rPr>
              <a:t>GoogleAuth API handles secure Google login.</a:t>
            </a:r>
          </a:p>
          <a:p>
            <a:pPr marL="820417" lvl="1" indent="-410209" algn="l">
              <a:lnSpc>
                <a:spcPts val="6801"/>
              </a:lnSpc>
              <a:buFont typeface="Arial"/>
              <a:buChar char="•"/>
            </a:pPr>
            <a:r>
              <a:rPr lang="en-US" sz="3799">
                <a:solidFill>
                  <a:srgbClr val="000000"/>
                </a:solidFill>
                <a:latin typeface="Poppins"/>
                <a:ea typeface="Poppins"/>
                <a:cs typeface="Poppins"/>
                <a:sym typeface="Poppins"/>
              </a:rPr>
              <a:t>CAPTCHA API verifies human users during login.</a:t>
            </a:r>
          </a:p>
          <a:p>
            <a:pPr algn="l">
              <a:lnSpc>
                <a:spcPts val="4691"/>
              </a:lnSpc>
            </a:pPr>
            <a:endParaRPr lang="en-US" sz="3799">
              <a:solidFill>
                <a:srgbClr val="000000"/>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25" y="8692575"/>
            <a:ext cx="18323250" cy="1604250"/>
            <a:chOff x="0" y="0"/>
            <a:chExt cx="24431000" cy="2139000"/>
          </a:xfrm>
        </p:grpSpPr>
        <p:sp>
          <p:nvSpPr>
            <p:cNvPr id="3" name="Freeform 3"/>
            <p:cNvSpPr/>
            <p:nvPr/>
          </p:nvSpPr>
          <p:spPr>
            <a:xfrm>
              <a:off x="12700" y="12700"/>
              <a:ext cx="24405589" cy="2113661"/>
            </a:xfrm>
            <a:custGeom>
              <a:avLst/>
              <a:gdLst/>
              <a:ahLst/>
              <a:cxnLst/>
              <a:rect l="l" t="t" r="r" b="b"/>
              <a:pathLst>
                <a:path w="24405589" h="2113661">
                  <a:moveTo>
                    <a:pt x="0" y="0"/>
                  </a:moveTo>
                  <a:lnTo>
                    <a:pt x="24405589" y="0"/>
                  </a:lnTo>
                  <a:lnTo>
                    <a:pt x="24405589" y="2113661"/>
                  </a:lnTo>
                  <a:lnTo>
                    <a:pt x="0" y="2113661"/>
                  </a:lnTo>
                  <a:close/>
                </a:path>
              </a:pathLst>
            </a:custGeom>
            <a:solidFill>
              <a:srgbClr val="FF7701"/>
            </a:solidFill>
            <a:ln w="12700">
              <a:solidFill>
                <a:srgbClr val="000000"/>
              </a:solidFill>
            </a:ln>
          </p:spPr>
        </p:sp>
        <p:sp>
          <p:nvSpPr>
            <p:cNvPr id="4" name="Freeform 4"/>
            <p:cNvSpPr/>
            <p:nvPr/>
          </p:nvSpPr>
          <p:spPr>
            <a:xfrm>
              <a:off x="0" y="0"/>
              <a:ext cx="24430989" cy="2139061"/>
            </a:xfrm>
            <a:custGeom>
              <a:avLst/>
              <a:gdLst/>
              <a:ahLst/>
              <a:cxnLst/>
              <a:rect l="l" t="t" r="r" b="b"/>
              <a:pathLst>
                <a:path w="24430989" h="2139061">
                  <a:moveTo>
                    <a:pt x="12700" y="0"/>
                  </a:moveTo>
                  <a:lnTo>
                    <a:pt x="24418289" y="0"/>
                  </a:lnTo>
                  <a:cubicBezTo>
                    <a:pt x="24425275" y="0"/>
                    <a:pt x="24430989" y="5715"/>
                    <a:pt x="24430989" y="12700"/>
                  </a:cubicBezTo>
                  <a:lnTo>
                    <a:pt x="24430989" y="2126361"/>
                  </a:lnTo>
                  <a:cubicBezTo>
                    <a:pt x="24430989" y="2133346"/>
                    <a:pt x="24425275" y="2139061"/>
                    <a:pt x="24418289" y="2139061"/>
                  </a:cubicBezTo>
                  <a:lnTo>
                    <a:pt x="12700" y="2139061"/>
                  </a:lnTo>
                  <a:cubicBezTo>
                    <a:pt x="5715" y="2139061"/>
                    <a:pt x="0" y="2133346"/>
                    <a:pt x="0" y="2126361"/>
                  </a:cubicBezTo>
                  <a:lnTo>
                    <a:pt x="0" y="12700"/>
                  </a:lnTo>
                  <a:cubicBezTo>
                    <a:pt x="0" y="5715"/>
                    <a:pt x="5715" y="0"/>
                    <a:pt x="12700" y="0"/>
                  </a:cubicBezTo>
                  <a:moveTo>
                    <a:pt x="12700" y="25400"/>
                  </a:moveTo>
                  <a:lnTo>
                    <a:pt x="12700" y="12700"/>
                  </a:lnTo>
                  <a:lnTo>
                    <a:pt x="25400" y="12700"/>
                  </a:lnTo>
                  <a:lnTo>
                    <a:pt x="25400" y="2126361"/>
                  </a:lnTo>
                  <a:lnTo>
                    <a:pt x="12700" y="2126361"/>
                  </a:lnTo>
                  <a:lnTo>
                    <a:pt x="12700" y="2113661"/>
                  </a:lnTo>
                  <a:lnTo>
                    <a:pt x="24418289" y="2113661"/>
                  </a:lnTo>
                  <a:lnTo>
                    <a:pt x="24418289" y="2126361"/>
                  </a:lnTo>
                  <a:lnTo>
                    <a:pt x="24405589" y="2126361"/>
                  </a:lnTo>
                  <a:lnTo>
                    <a:pt x="24405589" y="12700"/>
                  </a:lnTo>
                  <a:lnTo>
                    <a:pt x="24418289" y="12700"/>
                  </a:lnTo>
                  <a:lnTo>
                    <a:pt x="24418289" y="25400"/>
                  </a:lnTo>
                  <a:lnTo>
                    <a:pt x="12700" y="25400"/>
                  </a:lnTo>
                  <a:close/>
                </a:path>
              </a:pathLst>
            </a:custGeom>
            <a:solidFill>
              <a:srgbClr val="595959"/>
            </a:solidFill>
            <a:ln w="12700">
              <a:solidFill>
                <a:srgbClr val="000000"/>
              </a:solidFill>
            </a:ln>
          </p:spPr>
        </p:sp>
      </p:grpSp>
      <p:grpSp>
        <p:nvGrpSpPr>
          <p:cNvPr id="5" name="Group 5"/>
          <p:cNvGrpSpPr>
            <a:grpSpLocks noChangeAspect="1"/>
          </p:cNvGrpSpPr>
          <p:nvPr/>
        </p:nvGrpSpPr>
        <p:grpSpPr>
          <a:xfrm>
            <a:off x="15212100" y="8797350"/>
            <a:ext cx="1393202" cy="1394652"/>
            <a:chOff x="0" y="0"/>
            <a:chExt cx="1857603" cy="1859536"/>
          </a:xfrm>
        </p:grpSpPr>
        <p:sp>
          <p:nvSpPr>
            <p:cNvPr id="6" name="Freeform 6"/>
            <p:cNvSpPr/>
            <p:nvPr/>
          </p:nvSpPr>
          <p:spPr>
            <a:xfrm>
              <a:off x="0" y="0"/>
              <a:ext cx="1857629" cy="1859534"/>
            </a:xfrm>
            <a:custGeom>
              <a:avLst/>
              <a:gdLst/>
              <a:ahLst/>
              <a:cxnLst/>
              <a:rect l="l" t="t" r="r" b="b"/>
              <a:pathLst>
                <a:path w="1857629" h="1859534">
                  <a:moveTo>
                    <a:pt x="0" y="0"/>
                  </a:moveTo>
                  <a:lnTo>
                    <a:pt x="1857629" y="0"/>
                  </a:lnTo>
                  <a:lnTo>
                    <a:pt x="1857629" y="1859534"/>
                  </a:lnTo>
                  <a:lnTo>
                    <a:pt x="0" y="1859534"/>
                  </a:lnTo>
                  <a:lnTo>
                    <a:pt x="0" y="0"/>
                  </a:lnTo>
                  <a:close/>
                </a:path>
              </a:pathLst>
            </a:custGeom>
            <a:blipFill>
              <a:blip r:embed="rId3"/>
              <a:stretch>
                <a:fillRect l="-1"/>
              </a:stretch>
            </a:blipFill>
          </p:spPr>
        </p:sp>
      </p:grpSp>
      <p:sp>
        <p:nvSpPr>
          <p:cNvPr id="7" name="TextBox 7"/>
          <p:cNvSpPr txBox="1"/>
          <p:nvPr/>
        </p:nvSpPr>
        <p:spPr>
          <a:xfrm>
            <a:off x="8050725" y="8959325"/>
            <a:ext cx="7069950" cy="1174968"/>
          </a:xfrm>
          <a:prstGeom prst="rect">
            <a:avLst/>
          </a:prstGeom>
        </p:spPr>
        <p:txBody>
          <a:bodyPr lIns="0" tIns="0" rIns="0" bIns="0" rtlCol="0" anchor="t">
            <a:spAutoFit/>
          </a:bodyPr>
          <a:lstStyle/>
          <a:p>
            <a:pPr algn="r">
              <a:lnSpc>
                <a:spcPts val="2640"/>
              </a:lnSpc>
            </a:pPr>
            <a:r>
              <a:rPr lang="en-US" sz="2200" b="1">
                <a:solidFill>
                  <a:srgbClr val="000000"/>
                </a:solidFill>
                <a:latin typeface="Poppins Bold"/>
                <a:ea typeface="Poppins Bold"/>
                <a:cs typeface="Poppins Bold"/>
                <a:sym typeface="Poppins Bold"/>
              </a:rPr>
              <a:t>BUKIDNON STATE UNIVERSITY</a:t>
            </a:r>
          </a:p>
          <a:p>
            <a:pPr algn="r">
              <a:lnSpc>
                <a:spcPts val="2520"/>
              </a:lnSpc>
            </a:pPr>
            <a:r>
              <a:rPr lang="en-US" sz="2100" b="1">
                <a:solidFill>
                  <a:srgbClr val="000000"/>
                </a:solidFill>
                <a:latin typeface="Poppins Bold"/>
                <a:ea typeface="Poppins Bold"/>
                <a:cs typeface="Poppins Bold"/>
                <a:sym typeface="Poppins Bold"/>
              </a:rPr>
              <a:t>COLLEGE OF TECHNOLOGIES</a:t>
            </a:r>
          </a:p>
          <a:p>
            <a:pPr algn="r">
              <a:lnSpc>
                <a:spcPts val="2400"/>
              </a:lnSpc>
            </a:pPr>
            <a:r>
              <a:rPr lang="en-US" sz="2000">
                <a:solidFill>
                  <a:srgbClr val="000000"/>
                </a:solidFill>
                <a:latin typeface="Poppins"/>
                <a:ea typeface="Poppins"/>
                <a:cs typeface="Poppins"/>
                <a:sym typeface="Poppins"/>
              </a:rPr>
              <a:t>Information Technology Department</a:t>
            </a:r>
          </a:p>
        </p:txBody>
      </p:sp>
      <p:grpSp>
        <p:nvGrpSpPr>
          <p:cNvPr id="8" name="Group 8"/>
          <p:cNvGrpSpPr>
            <a:grpSpLocks noChangeAspect="1"/>
          </p:cNvGrpSpPr>
          <p:nvPr/>
        </p:nvGrpSpPr>
        <p:grpSpPr>
          <a:xfrm>
            <a:off x="16682800" y="8836274"/>
            <a:ext cx="1316802" cy="1316802"/>
            <a:chOff x="0" y="0"/>
            <a:chExt cx="1755736" cy="1755736"/>
          </a:xfrm>
        </p:grpSpPr>
        <p:sp>
          <p:nvSpPr>
            <p:cNvPr id="9" name="Freeform 9"/>
            <p:cNvSpPr/>
            <p:nvPr/>
          </p:nvSpPr>
          <p:spPr>
            <a:xfrm>
              <a:off x="0" y="0"/>
              <a:ext cx="1755775" cy="1755775"/>
            </a:xfrm>
            <a:custGeom>
              <a:avLst/>
              <a:gdLst/>
              <a:ahLst/>
              <a:cxnLst/>
              <a:rect l="l" t="t" r="r" b="b"/>
              <a:pathLst>
                <a:path w="1755775" h="1755775">
                  <a:moveTo>
                    <a:pt x="0" y="0"/>
                  </a:moveTo>
                  <a:lnTo>
                    <a:pt x="1755775" y="0"/>
                  </a:lnTo>
                  <a:lnTo>
                    <a:pt x="1755775" y="1755775"/>
                  </a:lnTo>
                  <a:lnTo>
                    <a:pt x="0" y="1755775"/>
                  </a:lnTo>
                  <a:lnTo>
                    <a:pt x="0" y="0"/>
                  </a:lnTo>
                  <a:close/>
                </a:path>
              </a:pathLst>
            </a:custGeom>
            <a:blipFill>
              <a:blip r:embed="rId4"/>
              <a:stretch>
                <a:fillRect r="2" b="2"/>
              </a:stretch>
            </a:blipFill>
          </p:spPr>
        </p:sp>
      </p:grpSp>
      <p:sp>
        <p:nvSpPr>
          <p:cNvPr id="10" name="TextBox 10"/>
          <p:cNvSpPr txBox="1"/>
          <p:nvPr/>
        </p:nvSpPr>
        <p:spPr>
          <a:xfrm>
            <a:off x="714825" y="924325"/>
            <a:ext cx="16858350" cy="819150"/>
          </a:xfrm>
          <a:prstGeom prst="rect">
            <a:avLst/>
          </a:prstGeom>
        </p:spPr>
        <p:txBody>
          <a:bodyPr lIns="0" tIns="0" rIns="0" bIns="0" rtlCol="0" anchor="t">
            <a:spAutoFit/>
          </a:bodyPr>
          <a:lstStyle/>
          <a:p>
            <a:pPr algn="l">
              <a:lnSpc>
                <a:spcPts val="6047"/>
              </a:lnSpc>
            </a:pPr>
            <a:r>
              <a:rPr lang="en-US" sz="5039" b="1" i="1">
                <a:solidFill>
                  <a:srgbClr val="000000"/>
                </a:solidFill>
                <a:latin typeface="Poppins Bold Italics"/>
                <a:ea typeface="Poppins Bold Italics"/>
                <a:cs typeface="Poppins Bold Italics"/>
                <a:sym typeface="Poppins Bold Italics"/>
              </a:rPr>
              <a:t>System Architecture</a:t>
            </a:r>
          </a:p>
        </p:txBody>
      </p:sp>
      <p:sp>
        <p:nvSpPr>
          <p:cNvPr id="11" name="TextBox 11"/>
          <p:cNvSpPr txBox="1"/>
          <p:nvPr/>
        </p:nvSpPr>
        <p:spPr>
          <a:xfrm>
            <a:off x="714825" y="2139200"/>
            <a:ext cx="16858350" cy="4952746"/>
          </a:xfrm>
          <a:prstGeom prst="rect">
            <a:avLst/>
          </a:prstGeom>
        </p:spPr>
        <p:txBody>
          <a:bodyPr lIns="0" tIns="0" rIns="0" bIns="0" rtlCol="0" anchor="t">
            <a:spAutoFit/>
          </a:bodyPr>
          <a:lstStyle/>
          <a:p>
            <a:pPr marL="820417" lvl="1" indent="-410209" algn="l">
              <a:lnSpc>
                <a:spcPts val="6801"/>
              </a:lnSpc>
              <a:buFont typeface="Arial"/>
              <a:buChar char="•"/>
            </a:pPr>
            <a:r>
              <a:rPr lang="en-US" sz="3799" dirty="0">
                <a:solidFill>
                  <a:srgbClr val="000000"/>
                </a:solidFill>
                <a:latin typeface="Poppins"/>
                <a:ea typeface="Poppins"/>
                <a:cs typeface="Poppins"/>
                <a:sym typeface="Poppins"/>
              </a:rPr>
              <a:t>SMTP API sends password reset emails.</a:t>
            </a:r>
          </a:p>
          <a:p>
            <a:pPr marL="820417" lvl="1" indent="-410209" algn="l">
              <a:lnSpc>
                <a:spcPts val="6801"/>
              </a:lnSpc>
              <a:buFont typeface="Arial"/>
              <a:buChar char="•"/>
            </a:pPr>
            <a:r>
              <a:rPr lang="en-US" sz="3799" dirty="0">
                <a:solidFill>
                  <a:srgbClr val="000000"/>
                </a:solidFill>
                <a:latin typeface="Poppins"/>
                <a:ea typeface="Poppins"/>
                <a:cs typeface="Poppins"/>
                <a:sym typeface="Poppins"/>
              </a:rPr>
              <a:t>Calendar API validates reservation date and time availability.</a:t>
            </a:r>
          </a:p>
          <a:p>
            <a:pPr marL="820417" lvl="1" indent="-410209" algn="l">
              <a:lnSpc>
                <a:spcPts val="6801"/>
              </a:lnSpc>
              <a:buFont typeface="Arial"/>
              <a:buChar char="•"/>
            </a:pPr>
            <a:r>
              <a:rPr lang="en-US" sz="3799" dirty="0" err="1">
                <a:solidFill>
                  <a:srgbClr val="000000"/>
                </a:solidFill>
                <a:latin typeface="Poppins"/>
                <a:ea typeface="Poppins"/>
                <a:cs typeface="Poppins"/>
                <a:sym typeface="Poppins"/>
              </a:rPr>
              <a:t>Cloudinary</a:t>
            </a:r>
            <a:r>
              <a:rPr lang="en-US" sz="3799" dirty="0">
                <a:solidFill>
                  <a:srgbClr val="000000"/>
                </a:solidFill>
                <a:latin typeface="Poppins"/>
                <a:ea typeface="Poppins"/>
                <a:cs typeface="Poppins"/>
                <a:sym typeface="Poppins"/>
              </a:rPr>
              <a:t> API stores and optimizes menu images.</a:t>
            </a:r>
          </a:p>
          <a:p>
            <a:pPr marL="820417" lvl="1" indent="-410209" algn="l">
              <a:lnSpc>
                <a:spcPts val="6801"/>
              </a:lnSpc>
              <a:buFont typeface="Arial"/>
              <a:buChar char="•"/>
            </a:pPr>
            <a:r>
              <a:rPr lang="en-US" sz="3799" dirty="0">
                <a:solidFill>
                  <a:srgbClr val="000000"/>
                </a:solidFill>
                <a:latin typeface="Poppins"/>
                <a:ea typeface="Poppins"/>
                <a:cs typeface="Poppins"/>
                <a:sym typeface="Poppins"/>
              </a:rPr>
              <a:t>Google Drive serves as cloud backup storage for important system files and assets.</a:t>
            </a:r>
          </a:p>
          <a:p>
            <a:pPr algn="l">
              <a:lnSpc>
                <a:spcPts val="4691"/>
              </a:lnSpc>
            </a:pPr>
            <a:endParaRPr lang="en-US" sz="3799" dirty="0">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25" y="8692575"/>
            <a:ext cx="18323250" cy="1604250"/>
            <a:chOff x="0" y="0"/>
            <a:chExt cx="24431000" cy="2139000"/>
          </a:xfrm>
        </p:grpSpPr>
        <p:sp>
          <p:nvSpPr>
            <p:cNvPr id="3" name="Freeform 3"/>
            <p:cNvSpPr/>
            <p:nvPr/>
          </p:nvSpPr>
          <p:spPr>
            <a:xfrm>
              <a:off x="12700" y="12700"/>
              <a:ext cx="24405589" cy="2113661"/>
            </a:xfrm>
            <a:custGeom>
              <a:avLst/>
              <a:gdLst/>
              <a:ahLst/>
              <a:cxnLst/>
              <a:rect l="l" t="t" r="r" b="b"/>
              <a:pathLst>
                <a:path w="24405589" h="2113661">
                  <a:moveTo>
                    <a:pt x="0" y="0"/>
                  </a:moveTo>
                  <a:lnTo>
                    <a:pt x="24405589" y="0"/>
                  </a:lnTo>
                  <a:lnTo>
                    <a:pt x="24405589" y="2113661"/>
                  </a:lnTo>
                  <a:lnTo>
                    <a:pt x="0" y="2113661"/>
                  </a:lnTo>
                  <a:close/>
                </a:path>
              </a:pathLst>
            </a:custGeom>
            <a:solidFill>
              <a:srgbClr val="FF7701"/>
            </a:solidFill>
            <a:ln w="12700">
              <a:solidFill>
                <a:srgbClr val="000000"/>
              </a:solidFill>
            </a:ln>
          </p:spPr>
        </p:sp>
        <p:sp>
          <p:nvSpPr>
            <p:cNvPr id="4" name="Freeform 4"/>
            <p:cNvSpPr/>
            <p:nvPr/>
          </p:nvSpPr>
          <p:spPr>
            <a:xfrm>
              <a:off x="0" y="0"/>
              <a:ext cx="24430989" cy="2139061"/>
            </a:xfrm>
            <a:custGeom>
              <a:avLst/>
              <a:gdLst/>
              <a:ahLst/>
              <a:cxnLst/>
              <a:rect l="l" t="t" r="r" b="b"/>
              <a:pathLst>
                <a:path w="24430989" h="2139061">
                  <a:moveTo>
                    <a:pt x="12700" y="0"/>
                  </a:moveTo>
                  <a:lnTo>
                    <a:pt x="24418289" y="0"/>
                  </a:lnTo>
                  <a:cubicBezTo>
                    <a:pt x="24425275" y="0"/>
                    <a:pt x="24430989" y="5715"/>
                    <a:pt x="24430989" y="12700"/>
                  </a:cubicBezTo>
                  <a:lnTo>
                    <a:pt x="24430989" y="2126361"/>
                  </a:lnTo>
                  <a:cubicBezTo>
                    <a:pt x="24430989" y="2133346"/>
                    <a:pt x="24425275" y="2139061"/>
                    <a:pt x="24418289" y="2139061"/>
                  </a:cubicBezTo>
                  <a:lnTo>
                    <a:pt x="12700" y="2139061"/>
                  </a:lnTo>
                  <a:cubicBezTo>
                    <a:pt x="5715" y="2139061"/>
                    <a:pt x="0" y="2133346"/>
                    <a:pt x="0" y="2126361"/>
                  </a:cubicBezTo>
                  <a:lnTo>
                    <a:pt x="0" y="12700"/>
                  </a:lnTo>
                  <a:cubicBezTo>
                    <a:pt x="0" y="5715"/>
                    <a:pt x="5715" y="0"/>
                    <a:pt x="12700" y="0"/>
                  </a:cubicBezTo>
                  <a:moveTo>
                    <a:pt x="12700" y="25400"/>
                  </a:moveTo>
                  <a:lnTo>
                    <a:pt x="12700" y="12700"/>
                  </a:lnTo>
                  <a:lnTo>
                    <a:pt x="25400" y="12700"/>
                  </a:lnTo>
                  <a:lnTo>
                    <a:pt x="25400" y="2126361"/>
                  </a:lnTo>
                  <a:lnTo>
                    <a:pt x="12700" y="2126361"/>
                  </a:lnTo>
                  <a:lnTo>
                    <a:pt x="12700" y="2113661"/>
                  </a:lnTo>
                  <a:lnTo>
                    <a:pt x="24418289" y="2113661"/>
                  </a:lnTo>
                  <a:lnTo>
                    <a:pt x="24418289" y="2126361"/>
                  </a:lnTo>
                  <a:lnTo>
                    <a:pt x="24405589" y="2126361"/>
                  </a:lnTo>
                  <a:lnTo>
                    <a:pt x="24405589" y="12700"/>
                  </a:lnTo>
                  <a:lnTo>
                    <a:pt x="24418289" y="12700"/>
                  </a:lnTo>
                  <a:lnTo>
                    <a:pt x="24418289" y="25400"/>
                  </a:lnTo>
                  <a:lnTo>
                    <a:pt x="12700" y="25400"/>
                  </a:lnTo>
                  <a:close/>
                </a:path>
              </a:pathLst>
            </a:custGeom>
            <a:solidFill>
              <a:srgbClr val="595959"/>
            </a:solidFill>
            <a:ln w="12700">
              <a:solidFill>
                <a:srgbClr val="000000"/>
              </a:solidFill>
            </a:ln>
          </p:spPr>
        </p:sp>
      </p:grpSp>
      <p:grpSp>
        <p:nvGrpSpPr>
          <p:cNvPr id="5" name="Group 5"/>
          <p:cNvGrpSpPr>
            <a:grpSpLocks noChangeAspect="1"/>
          </p:cNvGrpSpPr>
          <p:nvPr/>
        </p:nvGrpSpPr>
        <p:grpSpPr>
          <a:xfrm>
            <a:off x="15212100" y="8797350"/>
            <a:ext cx="1393202" cy="1394652"/>
            <a:chOff x="0" y="0"/>
            <a:chExt cx="1857603" cy="1859536"/>
          </a:xfrm>
        </p:grpSpPr>
        <p:sp>
          <p:nvSpPr>
            <p:cNvPr id="6" name="Freeform 6"/>
            <p:cNvSpPr/>
            <p:nvPr/>
          </p:nvSpPr>
          <p:spPr>
            <a:xfrm>
              <a:off x="0" y="0"/>
              <a:ext cx="1857629" cy="1859534"/>
            </a:xfrm>
            <a:custGeom>
              <a:avLst/>
              <a:gdLst/>
              <a:ahLst/>
              <a:cxnLst/>
              <a:rect l="l" t="t" r="r" b="b"/>
              <a:pathLst>
                <a:path w="1857629" h="1859534">
                  <a:moveTo>
                    <a:pt x="0" y="0"/>
                  </a:moveTo>
                  <a:lnTo>
                    <a:pt x="1857629" y="0"/>
                  </a:lnTo>
                  <a:lnTo>
                    <a:pt x="1857629" y="1859534"/>
                  </a:lnTo>
                  <a:lnTo>
                    <a:pt x="0" y="1859534"/>
                  </a:lnTo>
                  <a:lnTo>
                    <a:pt x="0" y="0"/>
                  </a:lnTo>
                  <a:close/>
                </a:path>
              </a:pathLst>
            </a:custGeom>
            <a:blipFill>
              <a:blip r:embed="rId3"/>
              <a:stretch>
                <a:fillRect l="-1"/>
              </a:stretch>
            </a:blipFill>
          </p:spPr>
        </p:sp>
      </p:grpSp>
      <p:sp>
        <p:nvSpPr>
          <p:cNvPr id="7" name="TextBox 7"/>
          <p:cNvSpPr txBox="1"/>
          <p:nvPr/>
        </p:nvSpPr>
        <p:spPr>
          <a:xfrm>
            <a:off x="8050725" y="8959325"/>
            <a:ext cx="7069950" cy="1174968"/>
          </a:xfrm>
          <a:prstGeom prst="rect">
            <a:avLst/>
          </a:prstGeom>
        </p:spPr>
        <p:txBody>
          <a:bodyPr lIns="0" tIns="0" rIns="0" bIns="0" rtlCol="0" anchor="t">
            <a:spAutoFit/>
          </a:bodyPr>
          <a:lstStyle/>
          <a:p>
            <a:pPr algn="r">
              <a:lnSpc>
                <a:spcPts val="2640"/>
              </a:lnSpc>
            </a:pPr>
            <a:r>
              <a:rPr lang="en-US" sz="2200" b="1">
                <a:solidFill>
                  <a:srgbClr val="000000"/>
                </a:solidFill>
                <a:latin typeface="Poppins Bold"/>
                <a:ea typeface="Poppins Bold"/>
                <a:cs typeface="Poppins Bold"/>
                <a:sym typeface="Poppins Bold"/>
              </a:rPr>
              <a:t>BUKIDNON STATE UNIVERSITY</a:t>
            </a:r>
          </a:p>
          <a:p>
            <a:pPr algn="r">
              <a:lnSpc>
                <a:spcPts val="2520"/>
              </a:lnSpc>
            </a:pPr>
            <a:r>
              <a:rPr lang="en-US" sz="2100" b="1">
                <a:solidFill>
                  <a:srgbClr val="000000"/>
                </a:solidFill>
                <a:latin typeface="Poppins Bold"/>
                <a:ea typeface="Poppins Bold"/>
                <a:cs typeface="Poppins Bold"/>
                <a:sym typeface="Poppins Bold"/>
              </a:rPr>
              <a:t>COLLEGE OF TECHNOLOGIES</a:t>
            </a:r>
          </a:p>
          <a:p>
            <a:pPr algn="r">
              <a:lnSpc>
                <a:spcPts val="2400"/>
              </a:lnSpc>
            </a:pPr>
            <a:r>
              <a:rPr lang="en-US" sz="2000">
                <a:solidFill>
                  <a:srgbClr val="000000"/>
                </a:solidFill>
                <a:latin typeface="Poppins"/>
                <a:ea typeface="Poppins"/>
                <a:cs typeface="Poppins"/>
                <a:sym typeface="Poppins"/>
              </a:rPr>
              <a:t>Information Technology Department</a:t>
            </a:r>
          </a:p>
        </p:txBody>
      </p:sp>
      <p:grpSp>
        <p:nvGrpSpPr>
          <p:cNvPr id="8" name="Group 8"/>
          <p:cNvGrpSpPr>
            <a:grpSpLocks noChangeAspect="1"/>
          </p:cNvGrpSpPr>
          <p:nvPr/>
        </p:nvGrpSpPr>
        <p:grpSpPr>
          <a:xfrm>
            <a:off x="16682800" y="8836274"/>
            <a:ext cx="1316802" cy="1316802"/>
            <a:chOff x="0" y="0"/>
            <a:chExt cx="1755736" cy="1755736"/>
          </a:xfrm>
        </p:grpSpPr>
        <p:sp>
          <p:nvSpPr>
            <p:cNvPr id="9" name="Freeform 9"/>
            <p:cNvSpPr/>
            <p:nvPr/>
          </p:nvSpPr>
          <p:spPr>
            <a:xfrm>
              <a:off x="0" y="0"/>
              <a:ext cx="1755775" cy="1755775"/>
            </a:xfrm>
            <a:custGeom>
              <a:avLst/>
              <a:gdLst/>
              <a:ahLst/>
              <a:cxnLst/>
              <a:rect l="l" t="t" r="r" b="b"/>
              <a:pathLst>
                <a:path w="1755775" h="1755775">
                  <a:moveTo>
                    <a:pt x="0" y="0"/>
                  </a:moveTo>
                  <a:lnTo>
                    <a:pt x="1755775" y="0"/>
                  </a:lnTo>
                  <a:lnTo>
                    <a:pt x="1755775" y="1755775"/>
                  </a:lnTo>
                  <a:lnTo>
                    <a:pt x="0" y="1755775"/>
                  </a:lnTo>
                  <a:lnTo>
                    <a:pt x="0" y="0"/>
                  </a:lnTo>
                  <a:close/>
                </a:path>
              </a:pathLst>
            </a:custGeom>
            <a:blipFill>
              <a:blip r:embed="rId4"/>
              <a:stretch>
                <a:fillRect r="2" b="2"/>
              </a:stretch>
            </a:blipFill>
          </p:spPr>
        </p:sp>
      </p:grpSp>
      <p:sp>
        <p:nvSpPr>
          <p:cNvPr id="10" name="TextBox 10"/>
          <p:cNvSpPr txBox="1"/>
          <p:nvPr/>
        </p:nvSpPr>
        <p:spPr>
          <a:xfrm>
            <a:off x="714825" y="924325"/>
            <a:ext cx="16858350" cy="819150"/>
          </a:xfrm>
          <a:prstGeom prst="rect">
            <a:avLst/>
          </a:prstGeom>
        </p:spPr>
        <p:txBody>
          <a:bodyPr lIns="0" tIns="0" rIns="0" bIns="0" rtlCol="0" anchor="t">
            <a:spAutoFit/>
          </a:bodyPr>
          <a:lstStyle/>
          <a:p>
            <a:pPr algn="l">
              <a:lnSpc>
                <a:spcPts val="6047"/>
              </a:lnSpc>
            </a:pPr>
            <a:r>
              <a:rPr lang="en-US" sz="5039" b="1" i="1">
                <a:solidFill>
                  <a:srgbClr val="000000"/>
                </a:solidFill>
                <a:latin typeface="Poppins Bold Italics"/>
                <a:ea typeface="Poppins Bold Italics"/>
                <a:cs typeface="Poppins Bold Italics"/>
                <a:sym typeface="Poppins Bold Italics"/>
              </a:rPr>
              <a:t>Key Features</a:t>
            </a:r>
          </a:p>
        </p:txBody>
      </p:sp>
      <p:sp>
        <p:nvSpPr>
          <p:cNvPr id="11" name="TextBox 11"/>
          <p:cNvSpPr txBox="1"/>
          <p:nvPr/>
        </p:nvSpPr>
        <p:spPr>
          <a:xfrm>
            <a:off x="714825" y="2139200"/>
            <a:ext cx="16858350" cy="6830441"/>
          </a:xfrm>
          <a:prstGeom prst="rect">
            <a:avLst/>
          </a:prstGeom>
        </p:spPr>
        <p:txBody>
          <a:bodyPr lIns="0" tIns="0" rIns="0" bIns="0" rtlCol="0" anchor="t">
            <a:spAutoFit/>
          </a:bodyPr>
          <a:lstStyle/>
          <a:p>
            <a:pPr marL="1172236" lvl="1" indent="-586118" algn="l">
              <a:lnSpc>
                <a:spcPts val="6802"/>
              </a:lnSpc>
              <a:buFont typeface="Arial"/>
              <a:buChar char="•"/>
            </a:pPr>
            <a:r>
              <a:rPr lang="en-US" sz="3800">
                <a:solidFill>
                  <a:srgbClr val="000000"/>
                </a:solidFill>
                <a:latin typeface="Poppins"/>
                <a:ea typeface="Poppins"/>
                <a:cs typeface="Poppins"/>
                <a:sym typeface="Poppins"/>
              </a:rPr>
              <a:t>User-friendly online menu browsing.</a:t>
            </a:r>
          </a:p>
          <a:p>
            <a:pPr marL="1172236" lvl="1" indent="-586118" algn="l">
              <a:lnSpc>
                <a:spcPts val="6802"/>
              </a:lnSpc>
              <a:buFont typeface="Arial"/>
              <a:buChar char="•"/>
            </a:pPr>
            <a:r>
              <a:rPr lang="en-US" sz="3800">
                <a:solidFill>
                  <a:srgbClr val="000000"/>
                </a:solidFill>
                <a:latin typeface="Poppins"/>
                <a:ea typeface="Poppins"/>
                <a:cs typeface="Poppins"/>
                <a:sym typeface="Poppins"/>
              </a:rPr>
              <a:t>Food ordering with order status tracking.</a:t>
            </a:r>
          </a:p>
          <a:p>
            <a:pPr marL="1172236" lvl="1" indent="-586118" algn="l">
              <a:lnSpc>
                <a:spcPts val="6802"/>
              </a:lnSpc>
              <a:buFont typeface="Arial"/>
              <a:buChar char="•"/>
            </a:pPr>
            <a:r>
              <a:rPr lang="en-US" sz="3800">
                <a:solidFill>
                  <a:srgbClr val="000000"/>
                </a:solidFill>
                <a:latin typeface="Poppins"/>
                <a:ea typeface="Poppins"/>
                <a:cs typeface="Poppins"/>
                <a:sym typeface="Poppins"/>
              </a:rPr>
              <a:t>Seat reservation with real-time availability.</a:t>
            </a:r>
          </a:p>
          <a:p>
            <a:pPr marL="1172236" lvl="1" indent="-586118" algn="l">
              <a:lnSpc>
                <a:spcPts val="6802"/>
              </a:lnSpc>
              <a:buFont typeface="Arial"/>
              <a:buChar char="•"/>
            </a:pPr>
            <a:r>
              <a:rPr lang="en-US" sz="3800">
                <a:solidFill>
                  <a:srgbClr val="000000"/>
                </a:solidFill>
                <a:latin typeface="Poppins"/>
                <a:ea typeface="Poppins"/>
                <a:cs typeface="Poppins"/>
                <a:sym typeface="Poppins"/>
              </a:rPr>
              <a:t>Admin dashboard for managing menu items.</a:t>
            </a:r>
          </a:p>
          <a:p>
            <a:pPr marL="1172236" lvl="1" indent="-586118" algn="l">
              <a:lnSpc>
                <a:spcPts val="6802"/>
              </a:lnSpc>
              <a:buFont typeface="Arial"/>
              <a:buChar char="•"/>
            </a:pPr>
            <a:r>
              <a:rPr lang="en-US" sz="3800">
                <a:solidFill>
                  <a:srgbClr val="000000"/>
                </a:solidFill>
                <a:latin typeface="Poppins"/>
                <a:ea typeface="Poppins"/>
                <a:cs typeface="Poppins"/>
                <a:sym typeface="Poppins"/>
              </a:rPr>
              <a:t>Order and reservation management for admins.</a:t>
            </a:r>
          </a:p>
          <a:p>
            <a:pPr marL="1172236" lvl="1" indent="-586118" algn="l">
              <a:lnSpc>
                <a:spcPts val="6802"/>
              </a:lnSpc>
              <a:buFont typeface="Arial"/>
              <a:buChar char="•"/>
            </a:pPr>
            <a:r>
              <a:rPr lang="en-US" sz="3800">
                <a:solidFill>
                  <a:srgbClr val="000000"/>
                </a:solidFill>
                <a:latin typeface="Poppins"/>
                <a:ea typeface="Poppins"/>
                <a:cs typeface="Poppins"/>
                <a:sym typeface="Poppins"/>
              </a:rPr>
              <a:t>Password recovery option for users.</a:t>
            </a:r>
          </a:p>
          <a:p>
            <a:pPr marL="1172236" lvl="1" indent="-586118" algn="l">
              <a:lnSpc>
                <a:spcPts val="6802"/>
              </a:lnSpc>
              <a:buFont typeface="Arial"/>
              <a:buChar char="•"/>
            </a:pPr>
            <a:r>
              <a:rPr lang="en-US" sz="3800">
                <a:solidFill>
                  <a:srgbClr val="000000"/>
                </a:solidFill>
                <a:latin typeface="Poppins"/>
                <a:ea typeface="Poppins"/>
                <a:cs typeface="Poppins"/>
                <a:sym typeface="Poppins"/>
              </a:rPr>
              <a:t>Automatic recording of orders and reservations.</a:t>
            </a:r>
          </a:p>
          <a:p>
            <a:pPr algn="l">
              <a:lnSpc>
                <a:spcPts val="6802"/>
              </a:lnSpc>
            </a:pPr>
            <a:endParaRPr lang="en-US" sz="3800">
              <a:solidFill>
                <a:srgbClr val="000000"/>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25" y="8692575"/>
            <a:ext cx="18323250" cy="1604250"/>
            <a:chOff x="0" y="0"/>
            <a:chExt cx="24431000" cy="2139000"/>
          </a:xfrm>
        </p:grpSpPr>
        <p:sp>
          <p:nvSpPr>
            <p:cNvPr id="3" name="Freeform 3"/>
            <p:cNvSpPr/>
            <p:nvPr/>
          </p:nvSpPr>
          <p:spPr>
            <a:xfrm>
              <a:off x="12700" y="12700"/>
              <a:ext cx="24405589" cy="2113661"/>
            </a:xfrm>
            <a:custGeom>
              <a:avLst/>
              <a:gdLst/>
              <a:ahLst/>
              <a:cxnLst/>
              <a:rect l="l" t="t" r="r" b="b"/>
              <a:pathLst>
                <a:path w="24405589" h="2113661">
                  <a:moveTo>
                    <a:pt x="0" y="0"/>
                  </a:moveTo>
                  <a:lnTo>
                    <a:pt x="24405589" y="0"/>
                  </a:lnTo>
                  <a:lnTo>
                    <a:pt x="24405589" y="2113661"/>
                  </a:lnTo>
                  <a:lnTo>
                    <a:pt x="0" y="2113661"/>
                  </a:lnTo>
                  <a:close/>
                </a:path>
              </a:pathLst>
            </a:custGeom>
            <a:solidFill>
              <a:srgbClr val="FF7701"/>
            </a:solidFill>
            <a:ln w="12700">
              <a:solidFill>
                <a:srgbClr val="000000"/>
              </a:solidFill>
            </a:ln>
          </p:spPr>
        </p:sp>
        <p:sp>
          <p:nvSpPr>
            <p:cNvPr id="4" name="Freeform 4"/>
            <p:cNvSpPr/>
            <p:nvPr/>
          </p:nvSpPr>
          <p:spPr>
            <a:xfrm>
              <a:off x="0" y="0"/>
              <a:ext cx="24430989" cy="2139061"/>
            </a:xfrm>
            <a:custGeom>
              <a:avLst/>
              <a:gdLst/>
              <a:ahLst/>
              <a:cxnLst/>
              <a:rect l="l" t="t" r="r" b="b"/>
              <a:pathLst>
                <a:path w="24430989" h="2139061">
                  <a:moveTo>
                    <a:pt x="12700" y="0"/>
                  </a:moveTo>
                  <a:lnTo>
                    <a:pt x="24418289" y="0"/>
                  </a:lnTo>
                  <a:cubicBezTo>
                    <a:pt x="24425275" y="0"/>
                    <a:pt x="24430989" y="5715"/>
                    <a:pt x="24430989" y="12700"/>
                  </a:cubicBezTo>
                  <a:lnTo>
                    <a:pt x="24430989" y="2126361"/>
                  </a:lnTo>
                  <a:cubicBezTo>
                    <a:pt x="24430989" y="2133346"/>
                    <a:pt x="24425275" y="2139061"/>
                    <a:pt x="24418289" y="2139061"/>
                  </a:cubicBezTo>
                  <a:lnTo>
                    <a:pt x="12700" y="2139061"/>
                  </a:lnTo>
                  <a:cubicBezTo>
                    <a:pt x="5715" y="2139061"/>
                    <a:pt x="0" y="2133346"/>
                    <a:pt x="0" y="2126361"/>
                  </a:cubicBezTo>
                  <a:lnTo>
                    <a:pt x="0" y="12700"/>
                  </a:lnTo>
                  <a:cubicBezTo>
                    <a:pt x="0" y="5715"/>
                    <a:pt x="5715" y="0"/>
                    <a:pt x="12700" y="0"/>
                  </a:cubicBezTo>
                  <a:moveTo>
                    <a:pt x="12700" y="25400"/>
                  </a:moveTo>
                  <a:lnTo>
                    <a:pt x="12700" y="12700"/>
                  </a:lnTo>
                  <a:lnTo>
                    <a:pt x="25400" y="12700"/>
                  </a:lnTo>
                  <a:lnTo>
                    <a:pt x="25400" y="2126361"/>
                  </a:lnTo>
                  <a:lnTo>
                    <a:pt x="12700" y="2126361"/>
                  </a:lnTo>
                  <a:lnTo>
                    <a:pt x="12700" y="2113661"/>
                  </a:lnTo>
                  <a:lnTo>
                    <a:pt x="24418289" y="2113661"/>
                  </a:lnTo>
                  <a:lnTo>
                    <a:pt x="24418289" y="2126361"/>
                  </a:lnTo>
                  <a:lnTo>
                    <a:pt x="24405589" y="2126361"/>
                  </a:lnTo>
                  <a:lnTo>
                    <a:pt x="24405589" y="12700"/>
                  </a:lnTo>
                  <a:lnTo>
                    <a:pt x="24418289" y="12700"/>
                  </a:lnTo>
                  <a:lnTo>
                    <a:pt x="24418289" y="25400"/>
                  </a:lnTo>
                  <a:lnTo>
                    <a:pt x="12700" y="25400"/>
                  </a:lnTo>
                  <a:close/>
                </a:path>
              </a:pathLst>
            </a:custGeom>
            <a:solidFill>
              <a:srgbClr val="595959"/>
            </a:solidFill>
            <a:ln w="12700">
              <a:solidFill>
                <a:srgbClr val="000000"/>
              </a:solidFill>
            </a:ln>
          </p:spPr>
        </p:sp>
      </p:grpSp>
      <p:grpSp>
        <p:nvGrpSpPr>
          <p:cNvPr id="5" name="Group 5"/>
          <p:cNvGrpSpPr>
            <a:grpSpLocks noChangeAspect="1"/>
          </p:cNvGrpSpPr>
          <p:nvPr/>
        </p:nvGrpSpPr>
        <p:grpSpPr>
          <a:xfrm>
            <a:off x="15212100" y="8797350"/>
            <a:ext cx="1393202" cy="1394652"/>
            <a:chOff x="0" y="0"/>
            <a:chExt cx="1857603" cy="1859536"/>
          </a:xfrm>
        </p:grpSpPr>
        <p:sp>
          <p:nvSpPr>
            <p:cNvPr id="6" name="Freeform 6"/>
            <p:cNvSpPr/>
            <p:nvPr/>
          </p:nvSpPr>
          <p:spPr>
            <a:xfrm>
              <a:off x="0" y="0"/>
              <a:ext cx="1857629" cy="1859534"/>
            </a:xfrm>
            <a:custGeom>
              <a:avLst/>
              <a:gdLst/>
              <a:ahLst/>
              <a:cxnLst/>
              <a:rect l="l" t="t" r="r" b="b"/>
              <a:pathLst>
                <a:path w="1857629" h="1859534">
                  <a:moveTo>
                    <a:pt x="0" y="0"/>
                  </a:moveTo>
                  <a:lnTo>
                    <a:pt x="1857629" y="0"/>
                  </a:lnTo>
                  <a:lnTo>
                    <a:pt x="1857629" y="1859534"/>
                  </a:lnTo>
                  <a:lnTo>
                    <a:pt x="0" y="1859534"/>
                  </a:lnTo>
                  <a:lnTo>
                    <a:pt x="0" y="0"/>
                  </a:lnTo>
                  <a:close/>
                </a:path>
              </a:pathLst>
            </a:custGeom>
            <a:blipFill>
              <a:blip r:embed="rId3"/>
              <a:stretch>
                <a:fillRect l="-1"/>
              </a:stretch>
            </a:blipFill>
          </p:spPr>
        </p:sp>
      </p:grpSp>
      <p:sp>
        <p:nvSpPr>
          <p:cNvPr id="7" name="TextBox 7"/>
          <p:cNvSpPr txBox="1"/>
          <p:nvPr/>
        </p:nvSpPr>
        <p:spPr>
          <a:xfrm>
            <a:off x="8050725" y="8959325"/>
            <a:ext cx="7069950" cy="1174968"/>
          </a:xfrm>
          <a:prstGeom prst="rect">
            <a:avLst/>
          </a:prstGeom>
        </p:spPr>
        <p:txBody>
          <a:bodyPr lIns="0" tIns="0" rIns="0" bIns="0" rtlCol="0" anchor="t">
            <a:spAutoFit/>
          </a:bodyPr>
          <a:lstStyle/>
          <a:p>
            <a:pPr algn="r">
              <a:lnSpc>
                <a:spcPts val="2640"/>
              </a:lnSpc>
            </a:pPr>
            <a:r>
              <a:rPr lang="en-US" sz="2200" b="1">
                <a:solidFill>
                  <a:srgbClr val="000000"/>
                </a:solidFill>
                <a:latin typeface="Poppins Bold"/>
                <a:ea typeface="Poppins Bold"/>
                <a:cs typeface="Poppins Bold"/>
                <a:sym typeface="Poppins Bold"/>
              </a:rPr>
              <a:t>BUKIDNON STATE UNIVERSITY</a:t>
            </a:r>
          </a:p>
          <a:p>
            <a:pPr algn="r">
              <a:lnSpc>
                <a:spcPts val="2520"/>
              </a:lnSpc>
            </a:pPr>
            <a:r>
              <a:rPr lang="en-US" sz="2100" b="1">
                <a:solidFill>
                  <a:srgbClr val="000000"/>
                </a:solidFill>
                <a:latin typeface="Poppins Bold"/>
                <a:ea typeface="Poppins Bold"/>
                <a:cs typeface="Poppins Bold"/>
                <a:sym typeface="Poppins Bold"/>
              </a:rPr>
              <a:t>COLLEGE OF TECHNOLOGIES</a:t>
            </a:r>
          </a:p>
          <a:p>
            <a:pPr algn="r">
              <a:lnSpc>
                <a:spcPts val="2400"/>
              </a:lnSpc>
            </a:pPr>
            <a:r>
              <a:rPr lang="en-US" sz="2000">
                <a:solidFill>
                  <a:srgbClr val="000000"/>
                </a:solidFill>
                <a:latin typeface="Poppins"/>
                <a:ea typeface="Poppins"/>
                <a:cs typeface="Poppins"/>
                <a:sym typeface="Poppins"/>
              </a:rPr>
              <a:t>Information Technology Department</a:t>
            </a:r>
          </a:p>
        </p:txBody>
      </p:sp>
      <p:grpSp>
        <p:nvGrpSpPr>
          <p:cNvPr id="8" name="Group 8"/>
          <p:cNvGrpSpPr>
            <a:grpSpLocks noChangeAspect="1"/>
          </p:cNvGrpSpPr>
          <p:nvPr/>
        </p:nvGrpSpPr>
        <p:grpSpPr>
          <a:xfrm>
            <a:off x="16682800" y="8836274"/>
            <a:ext cx="1316802" cy="1316802"/>
            <a:chOff x="0" y="0"/>
            <a:chExt cx="1755736" cy="1755736"/>
          </a:xfrm>
        </p:grpSpPr>
        <p:sp>
          <p:nvSpPr>
            <p:cNvPr id="9" name="Freeform 9"/>
            <p:cNvSpPr/>
            <p:nvPr/>
          </p:nvSpPr>
          <p:spPr>
            <a:xfrm>
              <a:off x="0" y="0"/>
              <a:ext cx="1755775" cy="1755775"/>
            </a:xfrm>
            <a:custGeom>
              <a:avLst/>
              <a:gdLst/>
              <a:ahLst/>
              <a:cxnLst/>
              <a:rect l="l" t="t" r="r" b="b"/>
              <a:pathLst>
                <a:path w="1755775" h="1755775">
                  <a:moveTo>
                    <a:pt x="0" y="0"/>
                  </a:moveTo>
                  <a:lnTo>
                    <a:pt x="1755775" y="0"/>
                  </a:lnTo>
                  <a:lnTo>
                    <a:pt x="1755775" y="1755775"/>
                  </a:lnTo>
                  <a:lnTo>
                    <a:pt x="0" y="1755775"/>
                  </a:lnTo>
                  <a:lnTo>
                    <a:pt x="0" y="0"/>
                  </a:lnTo>
                  <a:close/>
                </a:path>
              </a:pathLst>
            </a:custGeom>
            <a:blipFill>
              <a:blip r:embed="rId4"/>
              <a:stretch>
                <a:fillRect r="2" b="2"/>
              </a:stretch>
            </a:blipFill>
          </p:spPr>
        </p:sp>
      </p:grpSp>
      <p:sp>
        <p:nvSpPr>
          <p:cNvPr id="10" name="TextBox 10"/>
          <p:cNvSpPr txBox="1"/>
          <p:nvPr/>
        </p:nvSpPr>
        <p:spPr>
          <a:xfrm>
            <a:off x="5388257" y="2969758"/>
            <a:ext cx="7511486" cy="1524000"/>
          </a:xfrm>
          <a:prstGeom prst="rect">
            <a:avLst/>
          </a:prstGeom>
        </p:spPr>
        <p:txBody>
          <a:bodyPr lIns="0" tIns="0" rIns="0" bIns="0" rtlCol="0" anchor="t">
            <a:spAutoFit/>
          </a:bodyPr>
          <a:lstStyle/>
          <a:p>
            <a:pPr algn="l">
              <a:lnSpc>
                <a:spcPts val="11327"/>
              </a:lnSpc>
            </a:pPr>
            <a:r>
              <a:rPr lang="en-US" sz="9439" b="1">
                <a:solidFill>
                  <a:srgbClr val="000000"/>
                </a:solidFill>
                <a:latin typeface="Poppins Bold"/>
                <a:ea typeface="Poppins Bold"/>
                <a:cs typeface="Poppins Bold"/>
                <a:sym typeface="Poppins Bold"/>
              </a:rPr>
              <a:t>LIVE DEMO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25" y="8692575"/>
            <a:ext cx="18323250" cy="1604250"/>
            <a:chOff x="0" y="0"/>
            <a:chExt cx="24431000" cy="2139000"/>
          </a:xfrm>
        </p:grpSpPr>
        <p:sp>
          <p:nvSpPr>
            <p:cNvPr id="3" name="Freeform 3"/>
            <p:cNvSpPr/>
            <p:nvPr/>
          </p:nvSpPr>
          <p:spPr>
            <a:xfrm>
              <a:off x="12700" y="12700"/>
              <a:ext cx="24405589" cy="2113661"/>
            </a:xfrm>
            <a:custGeom>
              <a:avLst/>
              <a:gdLst/>
              <a:ahLst/>
              <a:cxnLst/>
              <a:rect l="l" t="t" r="r" b="b"/>
              <a:pathLst>
                <a:path w="24405589" h="2113661">
                  <a:moveTo>
                    <a:pt x="0" y="0"/>
                  </a:moveTo>
                  <a:lnTo>
                    <a:pt x="24405589" y="0"/>
                  </a:lnTo>
                  <a:lnTo>
                    <a:pt x="24405589" y="2113661"/>
                  </a:lnTo>
                  <a:lnTo>
                    <a:pt x="0" y="2113661"/>
                  </a:lnTo>
                  <a:close/>
                </a:path>
              </a:pathLst>
            </a:custGeom>
            <a:solidFill>
              <a:srgbClr val="FF7701"/>
            </a:solidFill>
            <a:ln w="12700">
              <a:solidFill>
                <a:srgbClr val="000000"/>
              </a:solidFill>
            </a:ln>
          </p:spPr>
        </p:sp>
        <p:sp>
          <p:nvSpPr>
            <p:cNvPr id="4" name="Freeform 4"/>
            <p:cNvSpPr/>
            <p:nvPr/>
          </p:nvSpPr>
          <p:spPr>
            <a:xfrm>
              <a:off x="0" y="0"/>
              <a:ext cx="24430989" cy="2139061"/>
            </a:xfrm>
            <a:custGeom>
              <a:avLst/>
              <a:gdLst/>
              <a:ahLst/>
              <a:cxnLst/>
              <a:rect l="l" t="t" r="r" b="b"/>
              <a:pathLst>
                <a:path w="24430989" h="2139061">
                  <a:moveTo>
                    <a:pt x="12700" y="0"/>
                  </a:moveTo>
                  <a:lnTo>
                    <a:pt x="24418289" y="0"/>
                  </a:lnTo>
                  <a:cubicBezTo>
                    <a:pt x="24425275" y="0"/>
                    <a:pt x="24430989" y="5715"/>
                    <a:pt x="24430989" y="12700"/>
                  </a:cubicBezTo>
                  <a:lnTo>
                    <a:pt x="24430989" y="2126361"/>
                  </a:lnTo>
                  <a:cubicBezTo>
                    <a:pt x="24430989" y="2133346"/>
                    <a:pt x="24425275" y="2139061"/>
                    <a:pt x="24418289" y="2139061"/>
                  </a:cubicBezTo>
                  <a:lnTo>
                    <a:pt x="12700" y="2139061"/>
                  </a:lnTo>
                  <a:cubicBezTo>
                    <a:pt x="5715" y="2139061"/>
                    <a:pt x="0" y="2133346"/>
                    <a:pt x="0" y="2126361"/>
                  </a:cubicBezTo>
                  <a:lnTo>
                    <a:pt x="0" y="12700"/>
                  </a:lnTo>
                  <a:cubicBezTo>
                    <a:pt x="0" y="5715"/>
                    <a:pt x="5715" y="0"/>
                    <a:pt x="12700" y="0"/>
                  </a:cubicBezTo>
                  <a:moveTo>
                    <a:pt x="12700" y="25400"/>
                  </a:moveTo>
                  <a:lnTo>
                    <a:pt x="12700" y="12700"/>
                  </a:lnTo>
                  <a:lnTo>
                    <a:pt x="25400" y="12700"/>
                  </a:lnTo>
                  <a:lnTo>
                    <a:pt x="25400" y="2126361"/>
                  </a:lnTo>
                  <a:lnTo>
                    <a:pt x="12700" y="2126361"/>
                  </a:lnTo>
                  <a:lnTo>
                    <a:pt x="12700" y="2113661"/>
                  </a:lnTo>
                  <a:lnTo>
                    <a:pt x="24418289" y="2113661"/>
                  </a:lnTo>
                  <a:lnTo>
                    <a:pt x="24418289" y="2126361"/>
                  </a:lnTo>
                  <a:lnTo>
                    <a:pt x="24405589" y="2126361"/>
                  </a:lnTo>
                  <a:lnTo>
                    <a:pt x="24405589" y="12700"/>
                  </a:lnTo>
                  <a:lnTo>
                    <a:pt x="24418289" y="12700"/>
                  </a:lnTo>
                  <a:lnTo>
                    <a:pt x="24418289" y="25400"/>
                  </a:lnTo>
                  <a:lnTo>
                    <a:pt x="12700" y="25400"/>
                  </a:lnTo>
                  <a:close/>
                </a:path>
              </a:pathLst>
            </a:custGeom>
            <a:solidFill>
              <a:srgbClr val="595959"/>
            </a:solidFill>
            <a:ln w="12700">
              <a:solidFill>
                <a:srgbClr val="000000"/>
              </a:solidFill>
            </a:ln>
          </p:spPr>
        </p:sp>
      </p:grpSp>
      <p:grpSp>
        <p:nvGrpSpPr>
          <p:cNvPr id="5" name="Group 5"/>
          <p:cNvGrpSpPr>
            <a:grpSpLocks noChangeAspect="1"/>
          </p:cNvGrpSpPr>
          <p:nvPr/>
        </p:nvGrpSpPr>
        <p:grpSpPr>
          <a:xfrm>
            <a:off x="15212100" y="8797350"/>
            <a:ext cx="1393202" cy="1394652"/>
            <a:chOff x="0" y="0"/>
            <a:chExt cx="1857603" cy="1859536"/>
          </a:xfrm>
        </p:grpSpPr>
        <p:sp>
          <p:nvSpPr>
            <p:cNvPr id="6" name="Freeform 6"/>
            <p:cNvSpPr/>
            <p:nvPr/>
          </p:nvSpPr>
          <p:spPr>
            <a:xfrm>
              <a:off x="0" y="0"/>
              <a:ext cx="1857629" cy="1859534"/>
            </a:xfrm>
            <a:custGeom>
              <a:avLst/>
              <a:gdLst/>
              <a:ahLst/>
              <a:cxnLst/>
              <a:rect l="l" t="t" r="r" b="b"/>
              <a:pathLst>
                <a:path w="1857629" h="1859534">
                  <a:moveTo>
                    <a:pt x="0" y="0"/>
                  </a:moveTo>
                  <a:lnTo>
                    <a:pt x="1857629" y="0"/>
                  </a:lnTo>
                  <a:lnTo>
                    <a:pt x="1857629" y="1859534"/>
                  </a:lnTo>
                  <a:lnTo>
                    <a:pt x="0" y="1859534"/>
                  </a:lnTo>
                  <a:lnTo>
                    <a:pt x="0" y="0"/>
                  </a:lnTo>
                  <a:close/>
                </a:path>
              </a:pathLst>
            </a:custGeom>
            <a:blipFill>
              <a:blip r:embed="rId3"/>
              <a:stretch>
                <a:fillRect l="-1"/>
              </a:stretch>
            </a:blipFill>
          </p:spPr>
        </p:sp>
      </p:grpSp>
      <p:sp>
        <p:nvSpPr>
          <p:cNvPr id="7" name="TextBox 7"/>
          <p:cNvSpPr txBox="1"/>
          <p:nvPr/>
        </p:nvSpPr>
        <p:spPr>
          <a:xfrm>
            <a:off x="8050725" y="8959325"/>
            <a:ext cx="7069950" cy="1174968"/>
          </a:xfrm>
          <a:prstGeom prst="rect">
            <a:avLst/>
          </a:prstGeom>
        </p:spPr>
        <p:txBody>
          <a:bodyPr lIns="0" tIns="0" rIns="0" bIns="0" rtlCol="0" anchor="t">
            <a:spAutoFit/>
          </a:bodyPr>
          <a:lstStyle/>
          <a:p>
            <a:pPr algn="r">
              <a:lnSpc>
                <a:spcPts val="2640"/>
              </a:lnSpc>
            </a:pPr>
            <a:r>
              <a:rPr lang="en-US" sz="2200" b="1">
                <a:solidFill>
                  <a:srgbClr val="000000"/>
                </a:solidFill>
                <a:latin typeface="Poppins Bold"/>
                <a:ea typeface="Poppins Bold"/>
                <a:cs typeface="Poppins Bold"/>
                <a:sym typeface="Poppins Bold"/>
              </a:rPr>
              <a:t>BUKIDNON STATE UNIVERSITY</a:t>
            </a:r>
          </a:p>
          <a:p>
            <a:pPr algn="r">
              <a:lnSpc>
                <a:spcPts val="2520"/>
              </a:lnSpc>
            </a:pPr>
            <a:r>
              <a:rPr lang="en-US" sz="2100" b="1">
                <a:solidFill>
                  <a:srgbClr val="000000"/>
                </a:solidFill>
                <a:latin typeface="Poppins Bold"/>
                <a:ea typeface="Poppins Bold"/>
                <a:cs typeface="Poppins Bold"/>
                <a:sym typeface="Poppins Bold"/>
              </a:rPr>
              <a:t>COLLEGE OF TECHNOLOGIES</a:t>
            </a:r>
          </a:p>
          <a:p>
            <a:pPr algn="r">
              <a:lnSpc>
                <a:spcPts val="2400"/>
              </a:lnSpc>
            </a:pPr>
            <a:r>
              <a:rPr lang="en-US" sz="2000">
                <a:solidFill>
                  <a:srgbClr val="000000"/>
                </a:solidFill>
                <a:latin typeface="Poppins"/>
                <a:ea typeface="Poppins"/>
                <a:cs typeface="Poppins"/>
                <a:sym typeface="Poppins"/>
              </a:rPr>
              <a:t>Information Technology Department</a:t>
            </a:r>
          </a:p>
        </p:txBody>
      </p:sp>
      <p:grpSp>
        <p:nvGrpSpPr>
          <p:cNvPr id="8" name="Group 8"/>
          <p:cNvGrpSpPr>
            <a:grpSpLocks noChangeAspect="1"/>
          </p:cNvGrpSpPr>
          <p:nvPr/>
        </p:nvGrpSpPr>
        <p:grpSpPr>
          <a:xfrm>
            <a:off x="16682800" y="8836274"/>
            <a:ext cx="1316802" cy="1316802"/>
            <a:chOff x="0" y="0"/>
            <a:chExt cx="1755736" cy="1755736"/>
          </a:xfrm>
        </p:grpSpPr>
        <p:sp>
          <p:nvSpPr>
            <p:cNvPr id="9" name="Freeform 9"/>
            <p:cNvSpPr/>
            <p:nvPr/>
          </p:nvSpPr>
          <p:spPr>
            <a:xfrm>
              <a:off x="0" y="0"/>
              <a:ext cx="1755775" cy="1755775"/>
            </a:xfrm>
            <a:custGeom>
              <a:avLst/>
              <a:gdLst/>
              <a:ahLst/>
              <a:cxnLst/>
              <a:rect l="l" t="t" r="r" b="b"/>
              <a:pathLst>
                <a:path w="1755775" h="1755775">
                  <a:moveTo>
                    <a:pt x="0" y="0"/>
                  </a:moveTo>
                  <a:lnTo>
                    <a:pt x="1755775" y="0"/>
                  </a:lnTo>
                  <a:lnTo>
                    <a:pt x="1755775" y="1755775"/>
                  </a:lnTo>
                  <a:lnTo>
                    <a:pt x="0" y="1755775"/>
                  </a:lnTo>
                  <a:lnTo>
                    <a:pt x="0" y="0"/>
                  </a:lnTo>
                  <a:close/>
                </a:path>
              </a:pathLst>
            </a:custGeom>
            <a:blipFill>
              <a:blip r:embed="rId4"/>
              <a:stretch>
                <a:fillRect r="2" b="2"/>
              </a:stretch>
            </a:blipFill>
          </p:spPr>
        </p:sp>
      </p:grpSp>
      <p:sp>
        <p:nvSpPr>
          <p:cNvPr id="10" name="TextBox 10"/>
          <p:cNvSpPr txBox="1"/>
          <p:nvPr/>
        </p:nvSpPr>
        <p:spPr>
          <a:xfrm>
            <a:off x="714825" y="924325"/>
            <a:ext cx="16858350" cy="819150"/>
          </a:xfrm>
          <a:prstGeom prst="rect">
            <a:avLst/>
          </a:prstGeom>
        </p:spPr>
        <p:txBody>
          <a:bodyPr lIns="0" tIns="0" rIns="0" bIns="0" rtlCol="0" anchor="t">
            <a:spAutoFit/>
          </a:bodyPr>
          <a:lstStyle/>
          <a:p>
            <a:pPr algn="l">
              <a:lnSpc>
                <a:spcPts val="6047"/>
              </a:lnSpc>
            </a:pPr>
            <a:r>
              <a:rPr lang="en-US" sz="5039" b="1" i="1">
                <a:solidFill>
                  <a:srgbClr val="000000"/>
                </a:solidFill>
                <a:latin typeface="Poppins Bold Italics"/>
                <a:ea typeface="Poppins Bold Italics"/>
                <a:cs typeface="Poppins Bold Italics"/>
                <a:sym typeface="Poppins Bold Italics"/>
              </a:rPr>
              <a:t>Challenges Faced &amp; Lesson Learned</a:t>
            </a:r>
          </a:p>
        </p:txBody>
      </p:sp>
      <p:sp>
        <p:nvSpPr>
          <p:cNvPr id="11" name="TextBox 11"/>
          <p:cNvSpPr txBox="1"/>
          <p:nvPr/>
        </p:nvSpPr>
        <p:spPr>
          <a:xfrm>
            <a:off x="714825" y="2139200"/>
            <a:ext cx="16858350" cy="5902452"/>
          </a:xfrm>
          <a:prstGeom prst="rect">
            <a:avLst/>
          </a:prstGeom>
        </p:spPr>
        <p:txBody>
          <a:bodyPr lIns="0" tIns="0" rIns="0" bIns="0" rtlCol="0" anchor="t">
            <a:spAutoFit/>
          </a:bodyPr>
          <a:lstStyle/>
          <a:p>
            <a:pPr marL="1172236" lvl="1" indent="-586118" algn="l">
              <a:lnSpc>
                <a:spcPts val="6802"/>
              </a:lnSpc>
              <a:buFont typeface="Arial"/>
              <a:buChar char="•"/>
            </a:pPr>
            <a:r>
              <a:rPr lang="en-US" sz="3800">
                <a:solidFill>
                  <a:srgbClr val="000000"/>
                </a:solidFill>
                <a:latin typeface="Poppins"/>
                <a:ea typeface="Poppins"/>
                <a:cs typeface="Poppins"/>
                <a:sym typeface="Poppins"/>
              </a:rPr>
              <a:t>Handling real-time queue logic</a:t>
            </a:r>
          </a:p>
          <a:p>
            <a:pPr marL="1172236" lvl="1" indent="-586118" algn="l">
              <a:lnSpc>
                <a:spcPts val="6802"/>
              </a:lnSpc>
              <a:buFont typeface="Arial"/>
              <a:buChar char="•"/>
            </a:pPr>
            <a:r>
              <a:rPr lang="en-US" sz="3800">
                <a:solidFill>
                  <a:srgbClr val="000000"/>
                </a:solidFill>
                <a:latin typeface="Poppins"/>
                <a:ea typeface="Poppins"/>
                <a:cs typeface="Poppins"/>
                <a:sym typeface="Poppins"/>
              </a:rPr>
              <a:t>Ensuring accurate inventory deductions</a:t>
            </a:r>
          </a:p>
          <a:p>
            <a:pPr marL="1172236" lvl="1" indent="-586118" algn="l">
              <a:lnSpc>
                <a:spcPts val="6802"/>
              </a:lnSpc>
              <a:buFont typeface="Arial"/>
              <a:buChar char="•"/>
            </a:pPr>
            <a:r>
              <a:rPr lang="en-US" sz="3800">
                <a:solidFill>
                  <a:srgbClr val="000000"/>
                </a:solidFill>
                <a:latin typeface="Poppins"/>
                <a:ea typeface="Poppins"/>
                <a:cs typeface="Poppins"/>
                <a:sym typeface="Poppins"/>
              </a:rPr>
              <a:t>Managing image uploads &amp; storage</a:t>
            </a:r>
          </a:p>
          <a:p>
            <a:pPr marL="1172236" lvl="1" indent="-586118" algn="l">
              <a:lnSpc>
                <a:spcPts val="6802"/>
              </a:lnSpc>
              <a:buFont typeface="Arial"/>
              <a:buChar char="•"/>
            </a:pPr>
            <a:r>
              <a:rPr lang="en-US" sz="3800">
                <a:solidFill>
                  <a:srgbClr val="000000"/>
                </a:solidFill>
                <a:latin typeface="Poppins"/>
                <a:ea typeface="Poppins"/>
                <a:cs typeface="Poppins"/>
                <a:sym typeface="Poppins"/>
              </a:rPr>
              <a:t>Database optimization</a:t>
            </a:r>
          </a:p>
          <a:p>
            <a:pPr marL="1172236" lvl="1" indent="-586118" algn="l">
              <a:lnSpc>
                <a:spcPts val="6802"/>
              </a:lnSpc>
              <a:buFont typeface="Arial"/>
              <a:buChar char="•"/>
            </a:pPr>
            <a:r>
              <a:rPr lang="en-US" sz="3800">
                <a:solidFill>
                  <a:srgbClr val="000000"/>
                </a:solidFill>
                <a:latin typeface="Poppins"/>
                <a:ea typeface="Poppins"/>
                <a:cs typeface="Poppins"/>
                <a:sym typeface="Poppins"/>
              </a:rPr>
              <a:t>Improved teamwork &amp; debugging skills</a:t>
            </a:r>
          </a:p>
          <a:p>
            <a:pPr algn="l">
              <a:lnSpc>
                <a:spcPts val="6802"/>
              </a:lnSpc>
            </a:pPr>
            <a:endParaRPr lang="en-US" sz="3800">
              <a:solidFill>
                <a:srgbClr val="000000"/>
              </a:solidFill>
              <a:latin typeface="Poppins"/>
              <a:ea typeface="Poppins"/>
              <a:cs typeface="Poppins"/>
              <a:sym typeface="Poppins"/>
            </a:endParaRPr>
          </a:p>
          <a:p>
            <a:pPr algn="l">
              <a:lnSpc>
                <a:spcPts val="6086"/>
              </a:lnSpc>
            </a:pPr>
            <a:endParaRPr lang="en-US" sz="3800">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575" y="-9525"/>
            <a:ext cx="18323250" cy="8726850"/>
            <a:chOff x="0" y="0"/>
            <a:chExt cx="24431000" cy="11635800"/>
          </a:xfrm>
        </p:grpSpPr>
        <p:sp>
          <p:nvSpPr>
            <p:cNvPr id="3" name="Freeform 3"/>
            <p:cNvSpPr/>
            <p:nvPr/>
          </p:nvSpPr>
          <p:spPr>
            <a:xfrm>
              <a:off x="12700" y="12700"/>
              <a:ext cx="24405589" cy="11610340"/>
            </a:xfrm>
            <a:custGeom>
              <a:avLst/>
              <a:gdLst/>
              <a:ahLst/>
              <a:cxnLst/>
              <a:rect l="l" t="t" r="r" b="b"/>
              <a:pathLst>
                <a:path w="24405589" h="11610340">
                  <a:moveTo>
                    <a:pt x="0" y="0"/>
                  </a:moveTo>
                  <a:lnTo>
                    <a:pt x="24405589" y="0"/>
                  </a:lnTo>
                  <a:lnTo>
                    <a:pt x="24405589" y="11610340"/>
                  </a:lnTo>
                  <a:lnTo>
                    <a:pt x="0" y="11610340"/>
                  </a:lnTo>
                  <a:close/>
                </a:path>
              </a:pathLst>
            </a:custGeom>
            <a:solidFill>
              <a:srgbClr val="073474"/>
            </a:solidFill>
            <a:ln w="12700">
              <a:solidFill>
                <a:srgbClr val="000000"/>
              </a:solidFill>
            </a:ln>
          </p:spPr>
        </p:sp>
        <p:sp>
          <p:nvSpPr>
            <p:cNvPr id="4" name="Freeform 4"/>
            <p:cNvSpPr/>
            <p:nvPr/>
          </p:nvSpPr>
          <p:spPr>
            <a:xfrm>
              <a:off x="0" y="0"/>
              <a:ext cx="24430989" cy="11635740"/>
            </a:xfrm>
            <a:custGeom>
              <a:avLst/>
              <a:gdLst/>
              <a:ahLst/>
              <a:cxnLst/>
              <a:rect l="l" t="t" r="r" b="b"/>
              <a:pathLst>
                <a:path w="24430989" h="11635740">
                  <a:moveTo>
                    <a:pt x="12700" y="0"/>
                  </a:moveTo>
                  <a:lnTo>
                    <a:pt x="24418289" y="0"/>
                  </a:lnTo>
                  <a:cubicBezTo>
                    <a:pt x="24425275" y="0"/>
                    <a:pt x="24430989" y="5715"/>
                    <a:pt x="24430989" y="12700"/>
                  </a:cubicBezTo>
                  <a:lnTo>
                    <a:pt x="24430989" y="11623040"/>
                  </a:lnTo>
                  <a:cubicBezTo>
                    <a:pt x="24430989" y="11630025"/>
                    <a:pt x="24425275" y="11635740"/>
                    <a:pt x="24418289" y="11635740"/>
                  </a:cubicBezTo>
                  <a:lnTo>
                    <a:pt x="12700" y="11635740"/>
                  </a:lnTo>
                  <a:cubicBezTo>
                    <a:pt x="5715" y="11635740"/>
                    <a:pt x="0" y="11630025"/>
                    <a:pt x="0" y="11623040"/>
                  </a:cubicBezTo>
                  <a:lnTo>
                    <a:pt x="0" y="12700"/>
                  </a:lnTo>
                  <a:cubicBezTo>
                    <a:pt x="0" y="5715"/>
                    <a:pt x="5715" y="0"/>
                    <a:pt x="12700" y="0"/>
                  </a:cubicBezTo>
                  <a:moveTo>
                    <a:pt x="12700" y="25400"/>
                  </a:moveTo>
                  <a:lnTo>
                    <a:pt x="12700" y="12700"/>
                  </a:lnTo>
                  <a:lnTo>
                    <a:pt x="25400" y="12700"/>
                  </a:lnTo>
                  <a:lnTo>
                    <a:pt x="25400" y="11623040"/>
                  </a:lnTo>
                  <a:lnTo>
                    <a:pt x="12700" y="11623040"/>
                  </a:lnTo>
                  <a:lnTo>
                    <a:pt x="12700" y="11610340"/>
                  </a:lnTo>
                  <a:lnTo>
                    <a:pt x="24418289" y="11610340"/>
                  </a:lnTo>
                  <a:lnTo>
                    <a:pt x="24418289" y="11623040"/>
                  </a:lnTo>
                  <a:lnTo>
                    <a:pt x="24405589" y="11623040"/>
                  </a:lnTo>
                  <a:lnTo>
                    <a:pt x="24405589" y="12700"/>
                  </a:lnTo>
                  <a:lnTo>
                    <a:pt x="24418289" y="12700"/>
                  </a:lnTo>
                  <a:lnTo>
                    <a:pt x="24418289" y="25400"/>
                  </a:lnTo>
                  <a:lnTo>
                    <a:pt x="12700" y="25400"/>
                  </a:lnTo>
                  <a:close/>
                </a:path>
              </a:pathLst>
            </a:custGeom>
            <a:solidFill>
              <a:srgbClr val="595959"/>
            </a:solidFill>
            <a:ln w="12700">
              <a:solidFill>
                <a:srgbClr val="000000"/>
              </a:solidFill>
            </a:ln>
          </p:spPr>
        </p:sp>
      </p:grpSp>
      <p:grpSp>
        <p:nvGrpSpPr>
          <p:cNvPr id="5" name="Group 5"/>
          <p:cNvGrpSpPr/>
          <p:nvPr/>
        </p:nvGrpSpPr>
        <p:grpSpPr>
          <a:xfrm>
            <a:off x="-17625" y="8692575"/>
            <a:ext cx="18323250" cy="1604250"/>
            <a:chOff x="0" y="0"/>
            <a:chExt cx="24431000" cy="2139000"/>
          </a:xfrm>
        </p:grpSpPr>
        <p:sp>
          <p:nvSpPr>
            <p:cNvPr id="6" name="Freeform 6"/>
            <p:cNvSpPr/>
            <p:nvPr/>
          </p:nvSpPr>
          <p:spPr>
            <a:xfrm>
              <a:off x="12700" y="12700"/>
              <a:ext cx="24405589" cy="2113661"/>
            </a:xfrm>
            <a:custGeom>
              <a:avLst/>
              <a:gdLst/>
              <a:ahLst/>
              <a:cxnLst/>
              <a:rect l="l" t="t" r="r" b="b"/>
              <a:pathLst>
                <a:path w="24405589" h="2113661">
                  <a:moveTo>
                    <a:pt x="0" y="0"/>
                  </a:moveTo>
                  <a:lnTo>
                    <a:pt x="24405589" y="0"/>
                  </a:lnTo>
                  <a:lnTo>
                    <a:pt x="24405589" y="2113661"/>
                  </a:lnTo>
                  <a:lnTo>
                    <a:pt x="0" y="2113661"/>
                  </a:lnTo>
                  <a:close/>
                </a:path>
              </a:pathLst>
            </a:custGeom>
            <a:solidFill>
              <a:srgbClr val="FF7701"/>
            </a:solidFill>
            <a:ln w="12700">
              <a:solidFill>
                <a:srgbClr val="000000"/>
              </a:solidFill>
            </a:ln>
          </p:spPr>
        </p:sp>
        <p:sp>
          <p:nvSpPr>
            <p:cNvPr id="7" name="Freeform 7"/>
            <p:cNvSpPr/>
            <p:nvPr/>
          </p:nvSpPr>
          <p:spPr>
            <a:xfrm>
              <a:off x="0" y="0"/>
              <a:ext cx="24430989" cy="2139061"/>
            </a:xfrm>
            <a:custGeom>
              <a:avLst/>
              <a:gdLst/>
              <a:ahLst/>
              <a:cxnLst/>
              <a:rect l="l" t="t" r="r" b="b"/>
              <a:pathLst>
                <a:path w="24430989" h="2139061">
                  <a:moveTo>
                    <a:pt x="12700" y="0"/>
                  </a:moveTo>
                  <a:lnTo>
                    <a:pt x="24418289" y="0"/>
                  </a:lnTo>
                  <a:cubicBezTo>
                    <a:pt x="24425275" y="0"/>
                    <a:pt x="24430989" y="5715"/>
                    <a:pt x="24430989" y="12700"/>
                  </a:cubicBezTo>
                  <a:lnTo>
                    <a:pt x="24430989" y="2126361"/>
                  </a:lnTo>
                  <a:cubicBezTo>
                    <a:pt x="24430989" y="2133346"/>
                    <a:pt x="24425275" y="2139061"/>
                    <a:pt x="24418289" y="2139061"/>
                  </a:cubicBezTo>
                  <a:lnTo>
                    <a:pt x="12700" y="2139061"/>
                  </a:lnTo>
                  <a:cubicBezTo>
                    <a:pt x="5715" y="2139061"/>
                    <a:pt x="0" y="2133346"/>
                    <a:pt x="0" y="2126361"/>
                  </a:cubicBezTo>
                  <a:lnTo>
                    <a:pt x="0" y="12700"/>
                  </a:lnTo>
                  <a:cubicBezTo>
                    <a:pt x="0" y="5715"/>
                    <a:pt x="5715" y="0"/>
                    <a:pt x="12700" y="0"/>
                  </a:cubicBezTo>
                  <a:moveTo>
                    <a:pt x="12700" y="25400"/>
                  </a:moveTo>
                  <a:lnTo>
                    <a:pt x="12700" y="12700"/>
                  </a:lnTo>
                  <a:lnTo>
                    <a:pt x="25400" y="12700"/>
                  </a:lnTo>
                  <a:lnTo>
                    <a:pt x="25400" y="2126361"/>
                  </a:lnTo>
                  <a:lnTo>
                    <a:pt x="12700" y="2126361"/>
                  </a:lnTo>
                  <a:lnTo>
                    <a:pt x="12700" y="2113661"/>
                  </a:lnTo>
                  <a:lnTo>
                    <a:pt x="24418289" y="2113661"/>
                  </a:lnTo>
                  <a:lnTo>
                    <a:pt x="24418289" y="2126361"/>
                  </a:lnTo>
                  <a:lnTo>
                    <a:pt x="24405589" y="2126361"/>
                  </a:lnTo>
                  <a:lnTo>
                    <a:pt x="24405589" y="12700"/>
                  </a:lnTo>
                  <a:lnTo>
                    <a:pt x="24418289" y="12700"/>
                  </a:lnTo>
                  <a:lnTo>
                    <a:pt x="24418289" y="25400"/>
                  </a:lnTo>
                  <a:lnTo>
                    <a:pt x="12700" y="25400"/>
                  </a:lnTo>
                  <a:close/>
                </a:path>
              </a:pathLst>
            </a:custGeom>
            <a:solidFill>
              <a:srgbClr val="595959"/>
            </a:solidFill>
            <a:ln w="12700">
              <a:solidFill>
                <a:srgbClr val="000000"/>
              </a:solidFill>
            </a:ln>
          </p:spPr>
        </p:sp>
      </p:grpSp>
      <p:grpSp>
        <p:nvGrpSpPr>
          <p:cNvPr id="8" name="Group 8"/>
          <p:cNvGrpSpPr>
            <a:grpSpLocks noChangeAspect="1"/>
          </p:cNvGrpSpPr>
          <p:nvPr/>
        </p:nvGrpSpPr>
        <p:grpSpPr>
          <a:xfrm>
            <a:off x="15212100" y="8797350"/>
            <a:ext cx="1393202" cy="1394652"/>
            <a:chOff x="0" y="0"/>
            <a:chExt cx="1857603" cy="1859536"/>
          </a:xfrm>
        </p:grpSpPr>
        <p:sp>
          <p:nvSpPr>
            <p:cNvPr id="9" name="Freeform 9"/>
            <p:cNvSpPr/>
            <p:nvPr/>
          </p:nvSpPr>
          <p:spPr>
            <a:xfrm>
              <a:off x="0" y="0"/>
              <a:ext cx="1857629" cy="1859534"/>
            </a:xfrm>
            <a:custGeom>
              <a:avLst/>
              <a:gdLst/>
              <a:ahLst/>
              <a:cxnLst/>
              <a:rect l="l" t="t" r="r" b="b"/>
              <a:pathLst>
                <a:path w="1857629" h="1859534">
                  <a:moveTo>
                    <a:pt x="0" y="0"/>
                  </a:moveTo>
                  <a:lnTo>
                    <a:pt x="1857629" y="0"/>
                  </a:lnTo>
                  <a:lnTo>
                    <a:pt x="1857629" y="1859534"/>
                  </a:lnTo>
                  <a:lnTo>
                    <a:pt x="0" y="1859534"/>
                  </a:lnTo>
                  <a:lnTo>
                    <a:pt x="0" y="0"/>
                  </a:lnTo>
                  <a:close/>
                </a:path>
              </a:pathLst>
            </a:custGeom>
            <a:blipFill>
              <a:blip r:embed="rId3"/>
              <a:stretch>
                <a:fillRect l="-1"/>
              </a:stretch>
            </a:blipFill>
          </p:spPr>
        </p:sp>
      </p:grpSp>
      <p:sp>
        <p:nvSpPr>
          <p:cNvPr id="10" name="TextBox 10"/>
          <p:cNvSpPr txBox="1"/>
          <p:nvPr/>
        </p:nvSpPr>
        <p:spPr>
          <a:xfrm>
            <a:off x="8050725" y="8949800"/>
            <a:ext cx="7069950" cy="1046325"/>
          </a:xfrm>
          <a:prstGeom prst="rect">
            <a:avLst/>
          </a:prstGeom>
        </p:spPr>
        <p:txBody>
          <a:bodyPr lIns="0" tIns="0" rIns="0" bIns="0" rtlCol="0" anchor="t">
            <a:spAutoFit/>
          </a:bodyPr>
          <a:lstStyle/>
          <a:p>
            <a:pPr algn="r">
              <a:lnSpc>
                <a:spcPts val="2400"/>
              </a:lnSpc>
            </a:pPr>
            <a:r>
              <a:rPr lang="en-US" sz="2000" b="1">
                <a:solidFill>
                  <a:srgbClr val="000000"/>
                </a:solidFill>
                <a:latin typeface="Poppins Bold"/>
                <a:ea typeface="Poppins Bold"/>
                <a:cs typeface="Poppins Bold"/>
                <a:sym typeface="Poppins Bold"/>
              </a:rPr>
              <a:t>BUKIDNON STATE UNIVERSITY</a:t>
            </a:r>
          </a:p>
          <a:p>
            <a:pPr algn="r">
              <a:lnSpc>
                <a:spcPts val="2160"/>
              </a:lnSpc>
            </a:pPr>
            <a:r>
              <a:rPr lang="en-US" sz="1800" b="1">
                <a:solidFill>
                  <a:srgbClr val="000000"/>
                </a:solidFill>
                <a:latin typeface="Poppins Bold"/>
                <a:ea typeface="Poppins Bold"/>
                <a:cs typeface="Poppins Bold"/>
                <a:sym typeface="Poppins Bold"/>
              </a:rPr>
              <a:t>COLLEGE OF TECHNOLOGIES</a:t>
            </a:r>
          </a:p>
          <a:p>
            <a:pPr algn="r">
              <a:lnSpc>
                <a:spcPts val="1920"/>
              </a:lnSpc>
            </a:pPr>
            <a:r>
              <a:rPr lang="en-US" sz="1600">
                <a:solidFill>
                  <a:srgbClr val="000000"/>
                </a:solidFill>
                <a:latin typeface="Poppins"/>
                <a:ea typeface="Poppins"/>
                <a:cs typeface="Poppins"/>
                <a:sym typeface="Poppins"/>
              </a:rPr>
              <a:t>Information Technology Department</a:t>
            </a:r>
          </a:p>
        </p:txBody>
      </p:sp>
      <p:grpSp>
        <p:nvGrpSpPr>
          <p:cNvPr id="11" name="Group 11"/>
          <p:cNvGrpSpPr>
            <a:grpSpLocks noChangeAspect="1"/>
          </p:cNvGrpSpPr>
          <p:nvPr/>
        </p:nvGrpSpPr>
        <p:grpSpPr>
          <a:xfrm>
            <a:off x="16682800" y="8836274"/>
            <a:ext cx="1316802" cy="1316802"/>
            <a:chOff x="0" y="0"/>
            <a:chExt cx="1755736" cy="1755736"/>
          </a:xfrm>
        </p:grpSpPr>
        <p:sp>
          <p:nvSpPr>
            <p:cNvPr id="12" name="Freeform 12"/>
            <p:cNvSpPr/>
            <p:nvPr/>
          </p:nvSpPr>
          <p:spPr>
            <a:xfrm>
              <a:off x="0" y="0"/>
              <a:ext cx="1755775" cy="1755775"/>
            </a:xfrm>
            <a:custGeom>
              <a:avLst/>
              <a:gdLst/>
              <a:ahLst/>
              <a:cxnLst/>
              <a:rect l="l" t="t" r="r" b="b"/>
              <a:pathLst>
                <a:path w="1755775" h="1755775">
                  <a:moveTo>
                    <a:pt x="0" y="0"/>
                  </a:moveTo>
                  <a:lnTo>
                    <a:pt x="1755775" y="0"/>
                  </a:lnTo>
                  <a:lnTo>
                    <a:pt x="1755775" y="1755775"/>
                  </a:lnTo>
                  <a:lnTo>
                    <a:pt x="0" y="1755775"/>
                  </a:lnTo>
                  <a:lnTo>
                    <a:pt x="0" y="0"/>
                  </a:lnTo>
                  <a:close/>
                </a:path>
              </a:pathLst>
            </a:custGeom>
            <a:blipFill>
              <a:blip r:embed="rId4"/>
              <a:stretch>
                <a:fillRect r="2" b="2"/>
              </a:stretch>
            </a:blipFill>
          </p:spPr>
        </p:sp>
      </p:grpSp>
      <p:grpSp>
        <p:nvGrpSpPr>
          <p:cNvPr id="13" name="Group 13"/>
          <p:cNvGrpSpPr/>
          <p:nvPr/>
        </p:nvGrpSpPr>
        <p:grpSpPr>
          <a:xfrm>
            <a:off x="5724601" y="1038300"/>
            <a:ext cx="6838798" cy="4105200"/>
            <a:chOff x="0" y="0"/>
            <a:chExt cx="9118398" cy="5473600"/>
          </a:xfrm>
        </p:grpSpPr>
        <p:sp>
          <p:nvSpPr>
            <p:cNvPr id="14" name="Freeform 14"/>
            <p:cNvSpPr/>
            <p:nvPr/>
          </p:nvSpPr>
          <p:spPr>
            <a:xfrm>
              <a:off x="0" y="0"/>
              <a:ext cx="9118398" cy="5473600"/>
            </a:xfrm>
            <a:custGeom>
              <a:avLst/>
              <a:gdLst/>
              <a:ahLst/>
              <a:cxnLst/>
              <a:rect l="l" t="t" r="r" b="b"/>
              <a:pathLst>
                <a:path w="9118398" h="5473600">
                  <a:moveTo>
                    <a:pt x="0" y="0"/>
                  </a:moveTo>
                  <a:lnTo>
                    <a:pt x="9118398" y="0"/>
                  </a:lnTo>
                  <a:lnTo>
                    <a:pt x="9118398" y="5473600"/>
                  </a:lnTo>
                  <a:lnTo>
                    <a:pt x="0" y="5473600"/>
                  </a:lnTo>
                  <a:close/>
                </a:path>
              </a:pathLst>
            </a:custGeom>
            <a:solidFill>
              <a:srgbClr val="000000">
                <a:alpha val="0"/>
              </a:srgbClr>
            </a:solidFill>
          </p:spPr>
        </p:sp>
        <p:sp>
          <p:nvSpPr>
            <p:cNvPr id="15" name="TextBox 15"/>
            <p:cNvSpPr txBox="1"/>
            <p:nvPr/>
          </p:nvSpPr>
          <p:spPr>
            <a:xfrm>
              <a:off x="0" y="-95250"/>
              <a:ext cx="9118398" cy="5568850"/>
            </a:xfrm>
            <a:prstGeom prst="rect">
              <a:avLst/>
            </a:prstGeom>
          </p:spPr>
          <p:txBody>
            <a:bodyPr lIns="0" tIns="0" rIns="0" bIns="0" rtlCol="0" anchor="b"/>
            <a:lstStyle/>
            <a:p>
              <a:pPr algn="l">
                <a:lnSpc>
                  <a:spcPts val="11519"/>
                </a:lnSpc>
              </a:pPr>
              <a:r>
                <a:rPr lang="en-US" sz="9599">
                  <a:solidFill>
                    <a:srgbClr val="FF7701"/>
                  </a:solidFill>
                  <a:latin typeface="Poppins"/>
                  <a:ea typeface="Poppins"/>
                  <a:cs typeface="Poppins"/>
                  <a:sym typeface="Poppins"/>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863</Words>
  <Application>Microsoft Office PowerPoint</Application>
  <PresentationFormat>Custom</PresentationFormat>
  <Paragraphs>89</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Calibri</vt:lpstr>
      <vt:lpstr>Poppins Bold Italics</vt:lpstr>
      <vt:lpstr>Segoe UI Historic</vt:lpstr>
      <vt:lpstr>Arial</vt:lpstr>
      <vt:lpstr>Poppins 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Eris Cafe.pptx</dc:title>
  <dc:creator>Angelie</dc:creator>
  <cp:lastModifiedBy>angeliedinawanao12@outlook.com</cp:lastModifiedBy>
  <cp:revision>2</cp:revision>
  <dcterms:created xsi:type="dcterms:W3CDTF">2006-08-16T00:00:00Z</dcterms:created>
  <dcterms:modified xsi:type="dcterms:W3CDTF">2025-12-02T06:16:17Z</dcterms:modified>
  <dc:identifier>DAG6USxGAYg</dc:identifier>
</cp:coreProperties>
</file>